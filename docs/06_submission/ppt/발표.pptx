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여행을 설계하는 가장 스마트한 방법 — 탐색·일정·이동시간·협업·공유까지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ctr"/>
            <a:r>
              <a:rPr sz="1800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전진 · 송정기</a:t>
            </a:r>
          </a:p>
          <a:p>
            <a:pPr algn="ctr"/>
            <a:r>
              <a:rPr sz="15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2026.05 ~ 2026.06 (약 6주)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1.</a:t>
            </a:r>
            <a:r>
              <a:rPr sz="20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기획 배경 · 목표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2.</a:t>
            </a:r>
            <a:r>
              <a:rPr sz="20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추진 계획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3.</a:t>
            </a:r>
            <a:r>
              <a:rPr sz="20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시장 분석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4.</a:t>
            </a:r>
            <a:r>
              <a:rPr sz="20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개발 결과 — 핵심 기술 · 구현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5.</a:t>
            </a:r>
            <a:r>
              <a:rPr sz="20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개발 환경 &amp; 시스템 구조도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6.</a:t>
            </a:r>
            <a:r>
              <a:rPr sz="20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화면 흐름도 및 시연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7.</a:t>
            </a:r>
            <a:r>
              <a:rPr sz="20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적용 패턴 및 핵심 알고리즘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8.</a:t>
            </a:r>
            <a:r>
              <a:rPr sz="20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기대 효과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9.</a:t>
            </a:r>
            <a:r>
              <a:rPr sz="20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개발 후기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부록</a:t>
            </a:r>
            <a:r>
              <a:rPr sz="20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A. AI 사용 보고서 · B. 설계 산출물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  <a:p>
            <a:r>
              <a:rPr sz="4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기획 배경 · 목표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1-1  문제 인식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국내 여행 계획 시 사용자는 </a:t>
            </a:r>
            <a:r>
              <a:rPr sz="17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최소 4~5개 서비스를 동시에</a:t>
            </a:r>
            <a:r>
              <a:rPr sz="1700" b="0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 열어두고 작업한다.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106984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관광지는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포털 지도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로 검색, 운영시간·예약은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개별 사이트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에서 확인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장소 간 이동수단·소요시간은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대중교통 앱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으로 따로 계산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숙소는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예약 플랫폼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, 일행 조율은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메신저·노션·공유 메모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를 오감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→ 계획 세우기 자체가 피로, 현장에서 이동시간이 어긋나면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동선 전체가 붕괴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1-2  핵심 불편함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0020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81610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불편</a:t>
                      </a:r>
                    </a:p>
                  </a:txBody>
                  <a:tcPr marT="38100" marB="38100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내용</a:t>
                      </a:r>
                    </a:p>
                  </a:txBody>
                  <a:tcPr marT="38100" marB="38100">
                    <a:solidFill>
                      <a:srgbClr val="6D28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정보의 분산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관광지·이동·숙소가 서로 다른 서비스에 흩어져 통합 뷰 없음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수동 이동시간 계산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장소가 바뀔 때마다 직접 검색해 수기 반영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일정의 경직성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시간·장소를 옮겨도 자동 재배치·재계산해 주는 도구 부재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협업의 불편함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범용 도구는 여행 일정 특유의 시간·장소 구조·실시간 논의에 부적합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1-3  목표 — "한 화면에서 끝나는 여행 일정 도구"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탐색 → 후보군 → </a:t>
            </a:r>
            <a:r>
              <a:rPr sz="16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드래그앤드롭 일정 확정</a:t>
            </a:r>
            <a:r>
              <a:rPr sz="1600" b="0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 → 구간 이동시간 자동 계산 → 커뮤니티 공유를 한 흐름으로.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28600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81610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핵심 가치</a:t>
                      </a:r>
                    </a:p>
                  </a:txBody>
                  <a:tcPr marT="38100" marB="38100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설명</a:t>
                      </a:r>
                    </a:p>
                  </a:txBody>
                  <a:tcPr marT="38100" marB="38100">
                    <a:solidFill>
                      <a:srgbClr val="6D28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통합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탐색–후보군–타임라인–공유를 한 플로우로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자동화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장소 추가 시 도시 분류·이동시간·경로 연동 자동 처리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유연성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후보군을 먼저 모으고 날짜·시간은 나중에 정하는 2단계 계획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협업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여행 일정 특화 UI로 일행과 실시간 공동 편집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1-4  추가 · 차별화 기능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349240" cy="1371600"/>
          </a:xfrm>
          <a:prstGeom prst="roundRect">
            <a:avLst/>
          </a:prstGeom>
          <a:solidFill>
            <a:srgbClr val="FAF9FF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/>
            <a:r>
              <a:rPr sz="16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실시간 공동 편집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WebSocket(STOMP) 동시 편집 + 낙관적 락 + 상대 커서 표시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349240" cy="1371600"/>
          </a:xfrm>
          <a:prstGeom prst="roundRect">
            <a:avLst/>
          </a:prstGeom>
          <a:solidFill>
            <a:srgbClr val="FAF9FF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/>
            <a:r>
              <a:rPr sz="16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멀티모달 이동시간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ODsay(대중교통) + T Map(자동차·도보·택시요금) 구간별 모드, 경로 지도 시각화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46120"/>
            <a:ext cx="5349240" cy="1371600"/>
          </a:xfrm>
          <a:prstGeom prst="roundRect">
            <a:avLst/>
          </a:prstGeom>
          <a:solidFill>
            <a:srgbClr val="FAF9FF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/>
            <a:r>
              <a:rPr sz="16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관광지 AI 챗봇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Spring AI 컨텍스트 Q&amp;A + 반경 3km 주변 추천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246120"/>
            <a:ext cx="5349240" cy="1371600"/>
          </a:xfrm>
          <a:prstGeom prst="roundRect">
            <a:avLst/>
          </a:prstGeom>
          <a:solidFill>
            <a:srgbClr val="FAF9FF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/>
            <a:r>
              <a:rPr sz="16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공유 링크 / 커뮤니티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VIEW·EDIT 공유 링크, 일정 게시판 공유, 방문 지도 기록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1-5  목표 사용자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국내 여행지를 직접 조사·설계하는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자유여행 선호자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2인 이상이 함께 계획하는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소그룹 여행자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촘촘한 일정보다 유연한 플로우를 선호하되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기본 동선은 미리 잡아두고 싶은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여행자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  <a:p>
            <a:r>
              <a:rPr sz="4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추진 계획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2-1  전체 일정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00200"/>
          <a:ext cx="1088135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0297"/>
                <a:gridCol w="1700212"/>
                <a:gridCol w="680085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단계</a:t>
                      </a:r>
                    </a:p>
                  </a:txBody>
                  <a:tcPr marT="38100" marB="38100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기간</a:t>
                      </a:r>
                    </a:p>
                  </a:txBody>
                  <a:tcPr marT="38100" marB="38100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주요 내용</a:t>
                      </a:r>
                    </a:p>
                  </a:txBody>
                  <a:tcPr marT="38100" marB="38100">
                    <a:solidFill>
                      <a:srgbClr val="6D28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 기획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Week 1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요구사항 정의·WBS·협업 환경 세팅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 설계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Week 2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ERD·API 명세·UI 와이어프레임·코딩 컨벤션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 개발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Week 3~5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회원 → 관광지·즐겨찾기 → 일정·이동시간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 커뮤니티·고도화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Week 6~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공유게시판·공지, 협업·공유링크, AI 챗봇, 마이페이지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 QA·정리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막바지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통합 테스트·버그 수정·보안 점검·산출물 정리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2-2  간트 차트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10881360" cy="4480560"/>
          </a:xfrm>
          <a:prstGeom prst="roundRect">
            <a:avLst/>
          </a:prstGeom>
          <a:solidFill>
            <a:srgbClr val="FA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13594"/>
            <a:ext cx="10515600" cy="30537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2-3  마일스톤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00200"/>
          <a:ext cx="1088135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447"/>
                <a:gridCol w="1475438"/>
                <a:gridCol w="5532894"/>
                <a:gridCol w="110657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마일스톤</a:t>
                      </a:r>
                    </a:p>
                  </a:txBody>
                  <a:tcPr marT="38100" marB="38100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목표</a:t>
                      </a:r>
                    </a:p>
                  </a:txBody>
                  <a:tcPr marT="38100" marB="38100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완료 기준</a:t>
                      </a:r>
                    </a:p>
                  </a:txBody>
                  <a:tcPr marT="38100" marB="38100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상태</a:t>
                      </a:r>
                    </a:p>
                  </a:txBody>
                  <a:tcPr marT="38100" marB="38100">
                    <a:solidFill>
                      <a:srgbClr val="6D28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M1 설계 완료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W2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ERD·API·와이어프레임 확정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✅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M2 회원+관광지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W4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로그인·관광지 조회·즐겨찾기 동작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✅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M3 일정 기능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W5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드래그 타임라인·이동시간·저장 동작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✅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M4 MVP+고도화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W6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커뮤니티·협업·AI 챗봇·마이페이지 동작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✅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M5 제출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막바지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QA·산출물·발표 준비 완료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✅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2-4  개인별 분담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00200"/>
          <a:ext cx="1088135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900"/>
                <a:gridCol w="4748229"/>
                <a:gridCol w="4748229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주차</a:t>
                      </a:r>
                    </a:p>
                  </a:txBody>
                  <a:tcPr marT="38100" marB="38100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전진</a:t>
                      </a:r>
                    </a:p>
                  </a:txBody>
                  <a:tcPr marT="38100" marB="38100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송정기</a:t>
                      </a:r>
                    </a:p>
                  </a:txBody>
                  <a:tcPr marT="38100" marB="38100">
                    <a:solidFill>
                      <a:srgbClr val="6D28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W1~2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요구사항·유스케이스·API 명세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ERD·스키마·컨벤션·환경 세팅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W3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회원·JWT·Spring Security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관광지 TourAPI 수집·조회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W4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커뮤니티 게시판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후보군 자동연동·탐색 UI·네이버맵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W5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마이페이지·드래그앤드롭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타임라인·이동시간(ODsay/T Map)·경로 시각화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W6~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실시간 협업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공유링크·AI 챗봇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핵심 화면(일정 편집)·협업은 공동 작업, 세부 분담은 Git/MR 이력 기준.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2-5  리스크 &amp; 대응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0020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725424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리스크</a:t>
                      </a:r>
                    </a:p>
                  </a:txBody>
                  <a:tcPr marT="38100" marB="38100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대응</a:t>
                      </a:r>
                    </a:p>
                  </a:txBody>
                  <a:tcPr marT="38100" marB="38100">
                    <a:solidFill>
                      <a:srgbClr val="6D28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TourAPI 할당량 초과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초기 일괄 적재 후 자체 DB 서비스, call limiter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ODsay/T Map 지연·쿼터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좌표 기반 모드별 캐시 + 노선 폴리라인 영구 캐시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드래그앤드롭 복잡도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vuedraggable 활용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동시 편집 충돌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version 낙관적 락으로 후행 저장 거부·재동기화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2인 일정 지연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주 1회 동기화·우선순위 재조정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  <a:p>
            <a:r>
              <a:rPr sz="4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시장 분석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3-1  경쟁 서비스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탐색·길찾기는 잘하지만 </a:t>
            </a:r>
            <a:r>
              <a:rPr sz="16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여러 장소를 하루 동선으로 엮고 이동시간 자동 반영 + 일행과 함께 편집</a:t>
            </a:r>
            <a:r>
              <a:rPr sz="1600" b="0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하는 흐름은 비어 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286000"/>
          <a:ext cx="10881358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8110"/>
                <a:gridCol w="1883312"/>
                <a:gridCol w="1883312"/>
                <a:gridCol w="1674055"/>
                <a:gridCol w="2092569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항목</a:t>
                      </a:r>
                    </a:p>
                  </a:txBody>
                  <a:tcPr marT="38100" marB="38100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네이버 여행</a:t>
                      </a:r>
                    </a:p>
                  </a:txBody>
                  <a:tcPr marT="38100" marB="38100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구글 지도</a:t>
                      </a:r>
                    </a:p>
                  </a:txBody>
                  <a:tcPr marT="38100" marB="38100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트리플</a:t>
                      </a:r>
                    </a:p>
                  </a:txBody>
                  <a:tcPr marT="38100" marB="38100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TripCraft</a:t>
                      </a:r>
                    </a:p>
                  </a:txBody>
                  <a:tcPr marT="38100" marB="38100">
                    <a:solidFill>
                      <a:srgbClr val="6D28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드래그앤드롭 일정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△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✕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△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◎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구간 이동시간 자동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✕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◯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△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◎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이동수단 구간별 선택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✕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△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✕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◎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실시간 공동 편집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✕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✕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✕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◎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AI 관광 챗봇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✕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✕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△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◎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일정 커뮤니티 공유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△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✕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◯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◯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◎ 강점 · ◯ 지원 · △ 부분 · ✕ 미지원   |   핵심 공백 = 드래그 일정 + 구간별 이동수단 + 실시간 편집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3-2  차별화 전략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통합 동선 설계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— 탐색·후보군·타임라인을 한 작업실에서, 서비스 전환 비용 제거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현실적 이동시간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— ODsay + T Map 구간별 모드로 실제 동선과 맞물린 일정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협업 우선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— 공유 링크 + 실시간 동시 편집(낙관적 락·상대 커서), 경쟁사 미제공 영역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AI 도우미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— 관광지 컨텍스트 Q&amp;A + 반경 3km 주변 추천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기록의 자산화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— 커뮤니티 공유 + 방문 지도로 재사용 가능한 기록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  <a:p>
            <a:r>
              <a:rPr sz="4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개발 결과 — 핵심 기술 · 구현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4-1  회원 · 인증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Spring Security +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JWT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(Access 30분 / Refresh 7일),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HttpOnly 쿠키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발급·검증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토큰 자동 재발급,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BCrypt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비밀번호 해시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Kakao OAuth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소셜 로그인, 회원가입 / 정보 수정 / 탈퇴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4-2  관광지 — TourAPI · 지도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한국관광공사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TourAPI 4.0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전국 데이터 일괄 수집 → 자체 DB 서비스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`api_modified_at` 기준 증분 동기화, 지역·카테고리·키워드 조회, 상세(소개·이미지·이용안내)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Naver Maps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마커·InfoWindow 연동, 즐겨찾기 토글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4-3  일정 · 드래그앤드롭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Trip → Candidate → Block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모델,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vuedraggable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드래그앤드롭 타임라인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Day 탭,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30분 스냅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, 사이드바 삭제존, 후보군 도시(시군구) 자동 분류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즐겨찾기 자동 연동, 중복 방문 허용, 날짜 범위 이탈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DB TRIGGER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4-4  이동시간 · 경로 시각화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ODsay(대중교통) · T Map(자동차·도보) 연동,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구간별 모드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+ 택시 예상요금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좌표 기반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모드별 캐시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로 무료 API 쿼터 보호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대중교통 노선 폴리라인 + 환승/도보 구간 + 역 마커 지도 시각화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4-5  협업 · 커뮤니티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WebSocket(STOMP)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실시간 협업 + 공유 링크(VIEW/EDIT)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게시판(작성/목록/상세/수정/삭제, 소프트 딜리트)·공지·댓글/대댓글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좋아요·북마크, 방문 지도로 기록 시각화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4-6  AI 챗봇 · 마이페이지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Spring AI + gms(gpt-4.1)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관광지 컨텍스트 Q&amp;A(멀티턴) + 반경 3km 주변 추천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응답 언급 장소만 버튼화 → 지도 핀·상세 이동, 뒤로가기 복원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마이페이지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7탭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(여행·내정보·내장소·방문지도·내가쓴글·북마크·좋아요)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  <a:p>
            <a:r>
              <a:rPr sz="4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개발 환경 &amp; 시스템 구조도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5-1  기술 스택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0020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870508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Layer</a:t>
                      </a:r>
                    </a:p>
                  </a:txBody>
                  <a:tcPr marT="38100" marB="38100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기술</a:t>
                      </a:r>
                    </a:p>
                  </a:txBody>
                  <a:tcPr marT="38100" marB="38100">
                    <a:solidFill>
                      <a:srgbClr val="6D28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Backend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Java 21 · Spring Boot 3.5 · Security/Batch/AI · MyBatis · MySQL 8 · Gradle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Frontend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Vue 3 + Vite · Pinia · Vue Router · vuedraggable · Tiptap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인증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JWT(30분/7일) · BCrypt · Kakao OAuth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실시간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WebSocket + STOMP + SockJS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외부 API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TourAPI · ODsay · T Map · Naver Maps · Kakao · gms(gpt-4.1)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5-2  전체 시스템 구조도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10881360" cy="4480560"/>
          </a:xfrm>
          <a:prstGeom prst="roundRect">
            <a:avLst/>
          </a:prstGeom>
          <a:solidFill>
            <a:srgbClr val="FA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598" y="1783080"/>
            <a:ext cx="5294324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21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5-3  인증 흐름 · 공통 응답 · 보안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로그인 → `access_token`·`refresh_token`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HttpOnly 쿠키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→ JwtAuthenticationFilter 매 요청 검증 → 만료 시 `/api/auth/refresh`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공통 응답 `ApiResponse { success, data, message, errorCode }`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서버 측 소유권/역할 검증, MyBatis `#{}` 바인딩, API 키 환경변수 주입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22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  <a:p>
            <a:r>
              <a:rPr sz="4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화면 흐름도 및 시연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6-1  화면 흐름도 ① 진입 · 작업실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10881360" cy="4480560"/>
          </a:xfrm>
          <a:prstGeom prst="roundRect">
            <a:avLst/>
          </a:prstGeom>
          <a:solidFill>
            <a:srgbClr val="FA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low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316" y="1783080"/>
            <a:ext cx="4892888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23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6-2  화면 흐름도 ② GNB · 커뮤니티 · 마이페이지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10881360" cy="4480560"/>
          </a:xfrm>
          <a:prstGeom prst="roundRect">
            <a:avLst/>
          </a:prstGeom>
          <a:solidFill>
            <a:srgbClr val="FA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low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709" y="1783080"/>
            <a:ext cx="8966101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24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6-3  핵심 5화면 와이어프레임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3474720" cy="1965960"/>
          </a:xfrm>
          <a:prstGeom prst="roundRect">
            <a:avLst/>
          </a:prstGeom>
          <a:solidFill>
            <a:srgbClr val="F3F1FB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M. 일정 생성 모달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00200"/>
            <a:ext cx="3474720" cy="1965960"/>
          </a:xfrm>
          <a:prstGeom prst="roundRect">
            <a:avLst/>
          </a:prstGeom>
          <a:solidFill>
            <a:srgbClr val="F3F1FB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A. 관광지 탐색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600200"/>
            <a:ext cx="3474720" cy="1965960"/>
          </a:xfrm>
          <a:prstGeom prst="roundRect">
            <a:avLst/>
          </a:prstGeom>
          <a:solidFill>
            <a:srgbClr val="F3F1FB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B. 일정 작업실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840480"/>
            <a:ext cx="3474720" cy="1965960"/>
          </a:xfrm>
          <a:prstGeom prst="roundRect">
            <a:avLst/>
          </a:prstGeom>
          <a:solidFill>
            <a:srgbClr val="F3F1FB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C. 커뮤니티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840480"/>
            <a:ext cx="3474720" cy="1965960"/>
          </a:xfrm>
          <a:prstGeom prst="roundRect">
            <a:avLst/>
          </a:prstGeom>
          <a:solidFill>
            <a:srgbClr val="F3F1FB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D. 로그인/회원가입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설계문서/wireframes/screen-M·A·B·C·D.svg 삽입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25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6-4  🎬 시연 영상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011680" y="1783080"/>
            <a:ext cx="8138160" cy="3931920"/>
          </a:xfrm>
          <a:prstGeom prst="roundRect">
            <a:avLst/>
          </a:prstGeom>
          <a:solidFill>
            <a:srgbClr val="F3F1FB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시연 영상 (약 3분)
[영상 임베드 / 링크]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흐름: 탐색 → 상세·AI 챗봇·담기 → 드래그 일정·지도·이동수단·내 장소 → 실시간 협업·읽기전용 공유 → 여행 이야기·가져오기 → 글쓰기·수정 → 방문 지도 → 마이페이지 → 클로징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  <a:p>
            <a:r>
              <a:rPr sz="4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적용 패턴 및 핵심 알고리즘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7-1  [경로] 왜 무료 API 조합인가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유료 길찾기 API 한 호출이면 끝나지만 </a:t>
            </a:r>
            <a:r>
              <a:rPr sz="16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비용 회피</a:t>
            </a:r>
            <a:r>
              <a:rPr sz="1600" b="0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를 위해 무료 조합을 택했다.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286000"/>
          <a:ext cx="1088135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6096"/>
                <a:gridCol w="3376973"/>
                <a:gridCol w="1500877"/>
                <a:gridCol w="4127412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접근</a:t>
                      </a:r>
                    </a:p>
                  </a:txBody>
                  <a:tcPr marT="38100" marB="38100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API</a:t>
                      </a:r>
                    </a:p>
                  </a:txBody>
                  <a:tcPr marT="38100" marB="38100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비용</a:t>
                      </a:r>
                    </a:p>
                  </a:txBody>
                  <a:tcPr marT="38100" marB="38100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기술 부담</a:t>
                      </a:r>
                    </a:p>
                  </a:txBody>
                  <a:tcPr marT="38100" marB="38100">
                    <a:solidFill>
                      <a:srgbClr val="6D28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유료 단일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Kakao Mobility 길찾기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호출당 과금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거의 없음(응답 그대로)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무료 조합(채택)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ODsay + T Map + Naver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무료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응답 직접 합성·파싱 + 캐시로 호출제한 방어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무료의 대가 = 합성(조립)과 다층 캐싱 — 다음 슬라이드의 두 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27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7-2  [경로] API 오케스트레이션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10881360" cy="4023360"/>
          </a:xfrm>
          <a:prstGeom prst="roundRect">
            <a:avLst/>
          </a:prstGeom>
          <a:solidFill>
            <a:srgbClr val="FA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oute_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0701" y="1783080"/>
            <a:ext cx="5100118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도시간 경로는 '역→역'만 줘서 접근 구간을 추가 호출로 합성, 지도 선은 loadLane 별도 호출.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28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7-3  [경로] 경로 합성 · 보강 (조립)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10881360" cy="4023360"/>
          </a:xfrm>
          <a:prstGeom prst="roundRect">
            <a:avLst/>
          </a:prstGeom>
          <a:solidFill>
            <a:srgbClr val="FA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oute_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833" y="1783080"/>
            <a:ext cx="3473853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[출발지→역]+[KTX]+[역→목적지] 합성, 실패 시 하버사인 추정 폴백, 3단 폴리라인 폴백.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29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7-4  [경로] 다층 캐싱 (핵심)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10881360" cy="4023360"/>
          </a:xfrm>
          <a:prstGeom prst="roundRect">
            <a:avLst/>
          </a:prstGeom>
          <a:solidFill>
            <a:srgbClr val="FA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oute_cac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9704" y="1783080"/>
            <a:ext cx="2982111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DB transit_cache·lane_polyline + in-memory 좌표·로컬경로. 무료 API 빈 응답(8연타 실험) → 성공만 캐시.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30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7-5  드래그 타임라인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후보군 → Day 그리드 드롭으로 블록 생성,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30분 스냅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, 사이드바 삭제존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`display_order`로 날짜 내 순서 관리, 중복 방문 허용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날짜 범위 이탈은 DB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TRIGGER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(trg_trip_block_date_*)로 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31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7-6  [협업] 2채널 분리 설계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5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편집(영속)</a:t>
            </a:r>
            <a:r>
              <a:rPr sz="15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= REST + DB 트랜잭션 + 낙관적 락 → STOMP '변경됨' broadcast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5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presence(커서·휘발)</a:t>
            </a:r>
            <a:r>
              <a:rPr sz="15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= DB 없이 in-memory(ConcurrentHashMap), 고빈도라 가볍게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926080"/>
            <a:ext cx="10881360" cy="3200400"/>
          </a:xfrm>
          <a:prstGeom prst="roundRect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7800" tIns="127000"/>
          <a:lstStyle/>
          <a:p>
            <a:pPr algn="ctr"/>
            <a:r>
              <a:rPr sz="1150">
                <a:solidFill>
                  <a:srgbClr val="E9E2FF"/>
                </a:solidFill>
                <a:latin typeface="Menlo"/>
                <a:ea typeface="Menlo"/>
                <a:cs typeface="Menlo"/>
              </a:rPr>
              <a:t>[사용자 A]            [Spring 서버]                  [사용자 B]</a:t>
            </a:r>
          </a:p>
          <a:p>
            <a:r>
              <a:rPr sz="1150">
                <a:solidFill>
                  <a:srgbClr val="E9E2FF"/>
                </a:solidFill>
                <a:latin typeface="Menlo"/>
                <a:ea typeface="Menlo"/>
                <a:cs typeface="Menlo"/>
              </a:rPr>
              <a:t> 드래그 ─REST─▶ TripServiceImpl(@Transactional)</a:t>
            </a:r>
          </a:p>
          <a:p>
            <a:r>
              <a:rPr sz="1150">
                <a:solidFill>
                  <a:srgbClr val="E9E2FF"/>
                </a:solidFill>
                <a:latin typeface="Menlo"/>
                <a:ea typeface="Menlo"/>
                <a:cs typeface="Menlo"/>
              </a:rPr>
              <a:t>                ├ 낙관적 락(version)·grab·겹침 검사</a:t>
            </a:r>
          </a:p>
          <a:p>
            <a:r>
              <a:rPr sz="1150">
                <a:solidFill>
                  <a:srgbClr val="E9E2FF"/>
                </a:solidFill>
                <a:latin typeface="Menlo"/>
                <a:ea typeface="Menlo"/>
                <a:cs typeface="Menlo"/>
              </a:rPr>
              <a:t>                ├ DB 반영</a:t>
            </a:r>
          </a:p>
          <a:p>
            <a:r>
              <a:rPr sz="1150">
                <a:solidFill>
                  <a:srgbClr val="E9E2FF"/>
                </a:solidFill>
                <a:latin typeface="Menlo"/>
                <a:ea typeface="Menlo"/>
                <a:cs typeface="Menlo"/>
              </a:rPr>
              <a:t>                └ broadcast(TripEvent, seq) ─STOMP─▶ /topic/trip/{id} ─▶ loadTrip</a:t>
            </a:r>
          </a:p>
          <a:p>
            <a:r>
              <a:rPr sz="1150">
                <a:solidFill>
                  <a:srgbClr val="E9E2FF"/>
                </a:solidFill>
                <a:latin typeface="Menlo"/>
                <a:ea typeface="Menlo"/>
                <a:cs typeface="Menlo"/>
              </a:rPr>
              <a:t> 마우스 ─STOMP─▶ /app/trip/{id}/pointer</a:t>
            </a:r>
          </a:p>
          <a:p>
            <a:r>
              <a:rPr sz="1150">
                <a:solidFill>
                  <a:srgbClr val="E9E2FF"/>
                </a:solidFill>
                <a:latin typeface="Menlo"/>
                <a:ea typeface="Menlo"/>
                <a:cs typeface="Menlo"/>
              </a:rPr>
              <a:t>                TripPresenceController(in-memory)</a:t>
            </a:r>
          </a:p>
          <a:p>
            <a:r>
              <a:rPr sz="1150">
                <a:solidFill>
                  <a:srgbClr val="E9E2FF"/>
                </a:solidFill>
                <a:latin typeface="Menlo"/>
                <a:ea typeface="Menlo"/>
                <a:cs typeface="Menlo"/>
              </a:rPr>
              <a:t>                └ broadcastPresence ─STOMP─▶ /topic/trip/{id}/presence ─▶ 커서 렌더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32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7-7  [협업] WebSocket(STOMP) 실시간 적용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폴링·SSE 대비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양방향·저지연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WebSocket 채택, SockJS 폴백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STOMP 토픽 pub/sub·채널 분리(`/topic/trip/{id}`, `/presence`)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쿠키 핸드셰이크 인증 + 권한 캐시(`TripAccessVersion`),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seq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로 순서·중복 방어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이동시간 재계산은 `afterCommit`으로 분리해 외부 지연 동안 DB 커넥션 미점유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33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7-8  [협업] 낙관적 락 충돌 매트릭스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`trip_block.version` 조건부 UPDATE → 0행이면 </a:t>
            </a:r>
            <a:r>
              <a:rPr sz="16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409</a:t>
            </a:r>
            <a:r>
              <a:rPr sz="1600" b="0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 → 재조회·재시도.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286000"/>
          <a:ext cx="1088135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3652"/>
                <a:gridCol w="3348110"/>
                <a:gridCol w="2929596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시나리오</a:t>
                      </a:r>
                    </a:p>
                  </a:txBody>
                  <a:tcPr marT="38100" marB="38100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메커니즘</a:t>
                      </a:r>
                    </a:p>
                  </a:txBody>
                  <a:tcPr marT="38100" marB="38100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결과</a:t>
                      </a:r>
                    </a:p>
                  </a:txBody>
                  <a:tcPr marT="38100" marB="38100">
                    <a:solidFill>
                      <a:srgbClr val="6D28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같은 블록 동시 이동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version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둘째 409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드래그 중 타인 수정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grab 게이트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즉시 409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서로 다른 블록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독립 version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충돌 없음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transit 재계산 ↔ 편집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version 불변 UPDATE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충돌 없음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같은 시간대 겹침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trip 행 FOR UPDATE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둘째 409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핵심 불변식: version은 '같은 row'에만 작용 → 무관 편집·재계산은 오탐 없음.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34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7-9  [협업] 상대 좌표 커서 동기화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절대 픽셀은 창 크기·스크롤·패널 폭이 달라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엉뚱한 곳에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찍힘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→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zone + 의미 좌표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(timetable: dayIndex + colRatioX + contentY)로 송수신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수신측이 자기 DOM 기준 역환산, 적응형 throttle(AIMD)·보간으로 백로그 제거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35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7-10  AI 주변 추천 · 데이터 보존 정책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349240" cy="4206240"/>
          </a:xfrm>
          <a:prstGeom prst="roundRect">
            <a:avLst/>
          </a:prstGeom>
          <a:solidFill>
            <a:srgbClr val="FAF9FF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/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AI 주변 추천</a:t>
            </a:r>
          </a:p>
          <a:p>
            <a:pPr>
              <a:spcBef>
                <a:spcPts val="700"/>
              </a:spcBef>
            </a:pPr>
            <a:r>
              <a:rPr sz="14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14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`ST_Distance_Sphere`로 반경 3km 거리순 8곳 조회 → 프롬프트 주입</a:t>
            </a:r>
          </a:p>
          <a:p>
            <a:pPr>
              <a:spcBef>
                <a:spcPts val="700"/>
              </a:spcBef>
            </a:pPr>
            <a:r>
              <a:rPr sz="14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14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응답 언급 장소만 버튼화 → 지도 핀·상세 이동</a:t>
            </a:r>
          </a:p>
          <a:p>
            <a:pPr>
              <a:spcBef>
                <a:spcPts val="700"/>
              </a:spcBef>
            </a:pPr>
            <a:r>
              <a:rPr sz="14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14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뒤로가기 시 대화·스크롤 복원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349240" cy="4206240"/>
          </a:xfrm>
          <a:prstGeom prst="roundRect">
            <a:avLst/>
          </a:prstGeom>
          <a:solidFill>
            <a:srgbClr val="FAF9FF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/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데이터 보존</a:t>
            </a:r>
          </a:p>
          <a:p>
            <a:pPr>
              <a:spcBef>
                <a:spcPts val="700"/>
              </a:spcBef>
            </a:pPr>
            <a:r>
              <a:rPr sz="14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14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작성자/일정 삭제 시 게시글·공지 </a:t>
            </a:r>
            <a:r>
              <a:rPr sz="14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SET NULL</a:t>
            </a:r>
            <a:r>
              <a:rPr sz="14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보존</a:t>
            </a:r>
          </a:p>
          <a:p>
            <a:pPr>
              <a:spcBef>
                <a:spcPts val="700"/>
              </a:spcBef>
            </a:pPr>
            <a:r>
              <a:rPr sz="14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14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후보군→블록 </a:t>
            </a:r>
            <a:r>
              <a:rPr sz="14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RESTRICT</a:t>
            </a:r>
            <a:r>
              <a:rPr sz="14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(모달 확인 UX)</a:t>
            </a:r>
          </a:p>
          <a:p>
            <a:pPr>
              <a:spcBef>
                <a:spcPts val="700"/>
              </a:spcBef>
            </a:pPr>
            <a:r>
              <a:rPr sz="14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14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글 </a:t>
            </a:r>
            <a:r>
              <a:rPr sz="14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소프트 딜리트</a:t>
            </a:r>
            <a:r>
              <a:rPr sz="14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+ 북마크 보존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36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8-1  기대 효과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여행 준비 시간 단축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— 탐색·동선·이동시간을 한 화면에서, 앱 전환 비용 제거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현실적인 일정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— 구간별 실제 이동시간·수단으로 무리 없는 동선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함께 만드는 여행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— 실시간 협업·공유로 일행과 합의된 일정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경험의 축적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— 여행 이야기·방문 지도로 기록 자산화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확장성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— 도메인 중심 설계 + 캐시 전략으로 기능·트래픽 확장 용이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37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9-1  개발 후기 — 팀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011680" y="1783080"/>
            <a:ext cx="8138160" cy="3931920"/>
          </a:xfrm>
          <a:prstGeom prst="roundRect">
            <a:avLst/>
          </a:prstGeom>
          <a:solidFill>
            <a:srgbClr val="F3F1FB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팀 사진
[사진 삽입]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팀 한 줄 소감을 사진 아래에 추가하세요.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38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9-2  개발 후기 — 개인 회고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349240" cy="4206240"/>
          </a:xfrm>
          <a:prstGeom prst="roundRect">
            <a:avLst/>
          </a:prstGeom>
          <a:solidFill>
            <a:srgbClr val="FAF9FF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/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전진</a:t>
            </a:r>
          </a:p>
          <a:p>
            <a:pPr>
              <a:spcBef>
                <a:spcPts val="700"/>
              </a:spcBef>
            </a:pPr>
            <a:r>
              <a:rPr sz="14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14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[회고 작성]</a:t>
            </a:r>
          </a:p>
          <a:p>
            <a:pPr>
              <a:spcBef>
                <a:spcPts val="700"/>
              </a:spcBef>
            </a:pPr>
            <a:r>
              <a:rPr sz="14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14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배운 점 · 어려웠던 점 · 다음에 시도할 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349240" cy="4206240"/>
          </a:xfrm>
          <a:prstGeom prst="roundRect">
            <a:avLst/>
          </a:prstGeom>
          <a:solidFill>
            <a:srgbClr val="FAF9FF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/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송정기</a:t>
            </a:r>
          </a:p>
          <a:p>
            <a:pPr>
              <a:spcBef>
                <a:spcPts val="700"/>
              </a:spcBef>
            </a:pPr>
            <a:r>
              <a:rPr sz="14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14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배운 점</a:t>
            </a:r>
            <a:r>
              <a:rPr sz="14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— 외부 API를 '쓰는 것'과 그것으로 '제품을 만드는 것'은 다르다. 경로 합성·다층 캐시로 제약 안에서 안정화하는 법을 체감.</a:t>
            </a:r>
          </a:p>
          <a:p>
            <a:pPr>
              <a:spcBef>
                <a:spcPts val="700"/>
              </a:spcBef>
            </a:pPr>
            <a:r>
              <a:rPr sz="14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14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어려웠던 점</a:t>
            </a:r>
            <a:r>
              <a:rPr sz="14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— 무캐시일 때만 간헐 발생하는 rate limit 버그. 재현이 까다로워 같은 좌표 반복 호출로 원인 규명.</a:t>
            </a:r>
          </a:p>
          <a:p>
            <a:pPr>
              <a:spcBef>
                <a:spcPts val="700"/>
              </a:spcBef>
            </a:pPr>
            <a:r>
              <a:rPr sz="14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14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다음 시도</a:t>
            </a:r>
            <a:r>
              <a:rPr sz="14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— 외부 의존 로직에 관측 지표(로깅·캐시 적중률) 내장, in-memory 캐시를 DB/Redis로 승격.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39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A</a:t>
            </a:r>
          </a:p>
          <a:p>
            <a:r>
              <a:rPr sz="4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부록 A. AI 사용 보고서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A-1  활용 도구 &amp; 원칙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349240" cy="4206240"/>
          </a:xfrm>
          <a:prstGeom prst="roundRect">
            <a:avLst/>
          </a:prstGeom>
          <a:solidFill>
            <a:srgbClr val="FAF9FF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/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활용 도구</a:t>
            </a:r>
          </a:p>
          <a:p>
            <a:pPr>
              <a:spcBef>
                <a:spcPts val="700"/>
              </a:spcBef>
            </a:pPr>
            <a:r>
              <a:rPr sz="14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14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Claude Code</a:t>
            </a:r>
            <a:r>
              <a:rPr sz="14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(CLI 에이전트) — 코드 생성·리팩터링·디버깅, 문서 작성, 코드베이스 탐색</a:t>
            </a:r>
          </a:p>
          <a:p>
            <a:pPr>
              <a:spcBef>
                <a:spcPts val="700"/>
              </a:spcBef>
            </a:pPr>
            <a:r>
              <a:rPr sz="14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14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AI 챗봇</a:t>
            </a:r>
            <a:r>
              <a:rPr sz="14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(서비스 기능) — 제품 내 관광지 Q&amp;A, Spring AI + gms(gpt-4.1)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349240" cy="4206240"/>
          </a:xfrm>
          <a:prstGeom prst="roundRect">
            <a:avLst/>
          </a:prstGeom>
          <a:solidFill>
            <a:srgbClr val="FAF9FF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/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원칙</a:t>
            </a:r>
          </a:p>
          <a:p>
            <a:pPr>
              <a:spcBef>
                <a:spcPts val="700"/>
              </a:spcBef>
            </a:pPr>
            <a:r>
              <a:rPr sz="14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14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AI 산출물은 </a:t>
            </a:r>
            <a:r>
              <a:rPr sz="14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반드시 사람이 리뷰·검증</a:t>
            </a:r>
            <a:r>
              <a:rPr sz="14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후 반영(빌드·테스트 통과)</a:t>
            </a:r>
          </a:p>
          <a:p>
            <a:pPr>
              <a:spcBef>
                <a:spcPts val="700"/>
              </a:spcBef>
            </a:pPr>
            <a:r>
              <a:rPr sz="14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14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보안·권한은 서버 검증 직접 점검, API 키는 환경변수 분리</a:t>
            </a:r>
          </a:p>
          <a:p>
            <a:pPr>
              <a:spcBef>
                <a:spcPts val="700"/>
              </a:spcBef>
            </a:pPr>
            <a:r>
              <a:rPr sz="14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14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설계 결정(스키마·삭제정책·캐시)은 팀 합의 후 구현 위임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40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A-2  기능별 활용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00200"/>
          <a:ext cx="1088135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1083"/>
                <a:gridCol w="8370276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영역</a:t>
                      </a:r>
                    </a:p>
                  </a:txBody>
                  <a:tcPr marT="38100" marB="38100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AI 활용 내용</a:t>
                      </a:r>
                    </a:p>
                  </a:txBody>
                  <a:tcPr marT="38100" marB="38100">
                    <a:solidFill>
                      <a:srgbClr val="6D28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DB 설계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ERD/스키마 초안 검토, FK 삭제 정책 트레이드오프 정리, 마이그레이션 SQL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백엔드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MyBatis 매퍼·DTO·Service 보일러플레이트, 공통 응답 패턴, 외부 API 클라이언트 연동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이동시간 캐시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좌표 기반 캐시 키·모드별 캐시 설계 리뷰, 정밀도 단계 로직 정리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프론트엔드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Vue 3 컴포넌트(드래그·모달·에디터) 스캐폴딩, Pinia 스토어, 라우터 가드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실시간 협업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WebSocket(STOMP) 구독/발행 구조, 낙관적 락 충돌 처리 설계 논의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AI 챗봇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Spring AI ChatClient·ChatMemory 설정, 주변 추천 프롬프트·컨텍스트 주입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문서화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요구사항·WBS·Mermaid 다이어그램·발표자료 초안 및 코드 정합성 점검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41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A-3  대표 프롬프트 유형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설계 검토형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— "trip_block↔trip_candidate FK를 RESTRICT vs CASCADE로 둘 때 UX·정합성 차이를 정리해줘."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구현 위임형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— "ODsay 응답을 좌표 route_key로 캐싱하고 미스일 때만 호출하는 TransitService를 모드별 독립 캐시로 작성해줘."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디버깅형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— "프로필 이미지 조회 N+1 원인과 수정안을 매퍼 쿼리 기준으로 제시해줘."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리팩터링형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— "죽은 transit 엔드포인트/메서드를 찾아 정리하고 자동차 옵션을 단일화해줘."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문서화형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— "schema.sql 기준 Mermaid ER을 만들고 모든 FK 삭제 정책을 라벨에 표기해줘."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42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A-4  효과 · 한계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349240" cy="4206240"/>
          </a:xfrm>
          <a:prstGeom prst="roundRect">
            <a:avLst/>
          </a:prstGeom>
          <a:solidFill>
            <a:srgbClr val="FAF9FF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/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효과</a:t>
            </a:r>
          </a:p>
          <a:p>
            <a:pPr>
              <a:spcBef>
                <a:spcPts val="700"/>
              </a:spcBef>
            </a:pPr>
            <a:r>
              <a:rPr sz="14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14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반복 작업 가속</a:t>
            </a:r>
            <a:r>
              <a:rPr sz="14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— 매퍼·DTO·컴포넌트 보일러플레이트 시간 단축</a:t>
            </a:r>
          </a:p>
          <a:p>
            <a:pPr>
              <a:spcBef>
                <a:spcPts val="700"/>
              </a:spcBef>
            </a:pPr>
            <a:r>
              <a:rPr sz="14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14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설계 품질</a:t>
            </a:r>
            <a:r>
              <a:rPr sz="14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— 삭제 정책·캐시 전략 트레이드오프 빠르게 비교·문서화</a:t>
            </a:r>
          </a:p>
          <a:p>
            <a:pPr>
              <a:spcBef>
                <a:spcPts val="700"/>
              </a:spcBef>
            </a:pPr>
            <a:r>
              <a:rPr sz="14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14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탐색 효율</a:t>
            </a:r>
            <a:r>
              <a:rPr sz="14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— 대규모 코드베이스에서 관련 파일·엔드포인트 신속 파악</a:t>
            </a:r>
          </a:p>
          <a:p>
            <a:pPr>
              <a:spcBef>
                <a:spcPts val="700"/>
              </a:spcBef>
            </a:pPr>
            <a:r>
              <a:rPr sz="14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14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문서 정합성</a:t>
            </a:r>
            <a:r>
              <a:rPr sz="14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— 코드 기준 다이어그램·명세 생성으로 문서-구현 괴리 최소화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349240" cy="4206240"/>
          </a:xfrm>
          <a:prstGeom prst="roundRect">
            <a:avLst/>
          </a:prstGeom>
          <a:solidFill>
            <a:srgbClr val="FAF9FF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/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한계 → 대응</a:t>
            </a:r>
          </a:p>
          <a:p>
            <a:pPr>
              <a:spcBef>
                <a:spcPts val="700"/>
              </a:spcBef>
            </a:pPr>
            <a:r>
              <a:rPr sz="14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14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외부 API 응답 불확실 → 실제 호출 결과로 검증·매핑 보정</a:t>
            </a:r>
          </a:p>
          <a:p>
            <a:pPr>
              <a:spcBef>
                <a:spcPts val="700"/>
              </a:spcBef>
            </a:pPr>
            <a:r>
              <a:rPr sz="14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14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컨텍스트 한계 일관성 누락 → 사람이 도메인·권한 최종 점검</a:t>
            </a:r>
          </a:p>
          <a:p>
            <a:pPr>
              <a:spcBef>
                <a:spcPts val="700"/>
              </a:spcBef>
            </a:pPr>
            <a:r>
              <a:rPr sz="14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14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그럴듯하나 틀린 코드 → 빌드·테스트·코드리뷰 게이트 필수</a:t>
            </a:r>
          </a:p>
          <a:p>
            <a:pPr>
              <a:spcBef>
                <a:spcPts val="700"/>
              </a:spcBef>
            </a:pPr>
            <a:r>
              <a:rPr sz="14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14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보안 민감 로직 → 그대로 신뢰 않고 직접 검증·일괄 보안 점검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43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B</a:t>
            </a:r>
          </a:p>
          <a:p>
            <a:r>
              <a:rPr sz="4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부록 B. 설계 산출물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B-1  ER 다이어그램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10881360" cy="4023360"/>
          </a:xfrm>
          <a:prstGeom prst="roundRect">
            <a:avLst/>
          </a:prstGeom>
          <a:solidFill>
            <a:srgbClr val="FA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239" y="1783080"/>
            <a:ext cx="7371041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핵심 관계만 표기. 도메인별 상세 ERD·컬럼·삭제정책은 설계문서/04 참조.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44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B-2  클래스 다이어그램 (발췌)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10881360" cy="4023360"/>
          </a:xfrm>
          <a:prstGeom prst="roundRect">
            <a:avLst/>
          </a:prstGeom>
          <a:solidFill>
            <a:srgbClr val="FA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593" y="1783080"/>
            <a:ext cx="4058333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Controller → Service → Mapper/Client 계층(이동·일정 도메인 발췌). 전체 도메인 모델은 설계문서/03 참조.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45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B-3  유스케이스 다이어그램 (발췌)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10881360" cy="4023360"/>
          </a:xfrm>
          <a:prstGeom prst="roundRect">
            <a:avLst/>
          </a:prstGeom>
          <a:solidFill>
            <a:srgbClr val="FA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0413" y="1783080"/>
            <a:ext cx="1640694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회원 중심 핵심 유스케이스. 비회원·관리자·외부 API 포함 전체는 설계문서/02 참조.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46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B-4  API 명세 — 공통 규약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공통 응답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— `ApiResponse { success, data, message, errorCode }` (NON_NULL 직렬화)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인증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— JWT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HttpOnly 쿠키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, JwtAuthenticationFilter 검증, 만료 시 `POST /api/auth/refresh` 재발급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권한 레벨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— 공개 / 인증 / 인증*(내 데이터) / ADMIN (`SecurityConfig` 기준)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에러</a:t>
            </a:r>
            <a:r>
              <a:rPr sz="1800" b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 — GlobalExceptionHandler → 401·403·400·409·500, `errorCode`로 구분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881360" cy="502920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50800"/>
          <a:lstStyle/>
          <a:p>
            <a:pPr algn="ctr"/>
            <a:r>
              <a:rPr sz="1300" b="0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예) GET /api/transit → { durationMinutes:38, transportMode:"SUBWAY,BUS", transferCount:1, fare:1500, label:"추천"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47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B-5  API 엔드포인트 카탈로그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2801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REST 약 </a:t>
            </a:r>
            <a:r>
              <a:rPr sz="16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72개</a:t>
            </a:r>
            <a:r>
              <a:rPr sz="1600" b="0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 + WebSocket(STOMP) 실시간 협업 채널.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286000"/>
          <a:ext cx="1088135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5894"/>
                <a:gridCol w="837027"/>
                <a:gridCol w="719843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도메인</a:t>
                      </a:r>
                    </a:p>
                  </a:txBody>
                  <a:tcPr marT="38100" marB="38100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수</a:t>
                      </a:r>
                    </a:p>
                  </a:txBody>
                  <a:tcPr marT="38100" marB="38100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대표 엔드포인트</a:t>
                      </a:r>
                    </a:p>
                  </a:txBody>
                  <a:tcPr marT="38100" marB="38100">
                    <a:solidFill>
                      <a:srgbClr val="6D28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인증·회원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14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auth/signup·login·kakao·refresh, members 닉네임/비번/프로필·탈퇴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관광지·AI 챗봇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attractions/regions·검색·{id}, {id}/chat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장소·내 장소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places/search, my-places CRUD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여행 일정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trips CRUD·공유·복제, 협업자, 후보군, 타임라인 블록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이동 시간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transit·by-coords·detail·route-segments·select (ODsay·T Map)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커뮤니티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13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posts·comments·likes·bookmarks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공지·이미지·관리자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notices, images/upload, admin/attractions/sync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C1D9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실시간(WebSocket)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STOMP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/ws, SEND /app/trip/{id}/pointer, SUB /topic/trip/{id}·/presence</a:t>
                      </a:r>
                    </a:p>
                  </a:txBody>
                  <a:tcPr marL="101600" marT="25400" marB="25400">
                    <a:solidFill>
                      <a:srgbClr val="FAF9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권한: 대부분 인증, 공개(관광지·게시글 조회·공유 미리보기), ADMIN(/admin, 공지 CUD).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Apple SD Gothic Neo"/>
                <a:ea typeface="Apple SD Gothic Neo"/>
                <a:cs typeface="Apple SD Gothic Neo"/>
              </a:rPr>
              <a:t>TripCraft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48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33272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감사합니다</a:t>
            </a:r>
          </a:p>
          <a:p>
            <a:pPr algn="ctr"/>
            <a:r>
              <a:rPr sz="2000">
                <a:solidFill>
                  <a:srgbClr val="EDE9FE"/>
                </a:solidFill>
                <a:latin typeface="Apple SD Gothic Neo"/>
                <a:ea typeface="Apple SD Gothic Neo"/>
                <a:cs typeface="Apple SD Gothic Neo"/>
              </a:rPr>
              <a:t>TripCraft — 계획부터 공유까지 함께하는 여행 플래너 · 전진 · 송정기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