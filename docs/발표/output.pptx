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</a:t>
            </a:r>
          </a:p>
          <a:p>
            <a:pPr lvl="0" indent="0" marL="0">
              <a:buNone/>
            </a:pPr>
            <a:r>
              <a:rPr/>
              <a:t>TripCraft</a:t>
            </a:r>
          </a:p>
          <a:p>
            <a:pPr lvl="0" indent="0" marL="0">
              <a:buNone/>
            </a:pPr>
            <a:r>
              <a:rPr/>
              <a:t>여행을 설계하는</a:t>
            </a:r>
            <a:br/>
            <a:r>
              <a:rPr/>
              <a:t>가장 스마트한 방법</a:t>
            </a:r>
          </a:p>
          <a:p>
            <a:pPr lvl="0" indent="0" marL="0">
              <a:buNone/>
            </a:pPr>
            <a:r>
              <a:rPr/>
              <a:t>관광지 탐색 · 드래그앤드롭 일정 · 이동시간 자동 계산 · 실시간 협업 · 커뮤니티 공유</a:t>
            </a:r>
          </a:p>
          <a:p>
            <a:pPr lvl="0" indent="0" marL="0">
              <a:buNone/>
            </a:pPr>
            <a:r>
              <a:rPr/>
              <a:t>TEAM</a:t>
            </a:r>
          </a:p>
          <a:p>
            <a:pPr lvl="0" indent="0" marL="0">
              <a:buNone/>
            </a:pPr>
            <a:r>
              <a:rPr/>
              <a:t>전진 · 송정기</a:t>
            </a:r>
          </a:p>
          <a:p>
            <a:pPr lvl="0" indent="0" marL="0">
              <a:buNone/>
            </a:pPr>
            <a:r>
              <a:rPr/>
              <a:t>PERIOD</a:t>
            </a:r>
          </a:p>
          <a:p>
            <a:pPr lvl="0" indent="0" marL="0">
              <a:buNone/>
            </a:pPr>
            <a:r>
              <a:rPr/>
              <a:t>2026.05 — 2026.06 (약 6주)</a:t>
            </a:r>
          </a:p>
          <a:p>
            <a:pPr lvl="0" indent="0" marL="0">
              <a:buNone/>
            </a:pPr>
            <a:r>
              <a:rPr/>
              <a:t>DOCUMENT</a:t>
            </a:r>
          </a:p>
          <a:p>
            <a:pPr lvl="0" indent="0" marL="0">
              <a:buNone/>
            </a:pPr>
            <a:r>
              <a:rPr/>
              <a:t>웹 개발 프로젝트 최종 보고서</a:t>
            </a:r>
          </a:p>
          <a:p>
            <a:pPr lvl="0" indent="0" marL="0">
              <a:buNone/>
            </a:pPr>
            <a:r>
              <a:rPr/>
              <a:t>목차</a:t>
            </a:r>
          </a:p>
          <a:p>
            <a:pPr lvl="0" indent="0" marL="0">
              <a:buNone/>
            </a:pPr>
            <a:r>
              <a:rPr/>
              <a:t>01기획 배경 · 목표</a:t>
            </a:r>
          </a:p>
          <a:p>
            <a:pPr lvl="0" indent="0" marL="0">
              <a:buNone/>
            </a:pPr>
            <a:r>
              <a:rPr/>
              <a:t>06화면 흐름도 및 시연</a:t>
            </a:r>
          </a:p>
          <a:p>
            <a:pPr lvl="0" indent="0" marL="0">
              <a:buNone/>
            </a:pPr>
            <a:r>
              <a:rPr/>
              <a:t>02추진 계획 (팀 · 개인 일정)</a:t>
            </a:r>
          </a:p>
          <a:p>
            <a:pPr lvl="0" indent="0" marL="0">
              <a:buNone/>
            </a:pPr>
            <a:r>
              <a:rPr/>
              <a:t>07적용 패턴 및 핵심 알고리즘</a:t>
            </a:r>
          </a:p>
          <a:p>
            <a:pPr lvl="0" indent="0" marL="0">
              <a:buNone/>
            </a:pPr>
            <a:r>
              <a:rPr/>
              <a:t>03시장 분석 (경쟁 · 차별화)</a:t>
            </a:r>
          </a:p>
          <a:p>
            <a:pPr lvl="0" indent="0" marL="0">
              <a:buNone/>
            </a:pPr>
            <a:r>
              <a:rPr/>
              <a:t>08기대 효과 · 개발 후기</a:t>
            </a:r>
          </a:p>
          <a:p>
            <a:pPr lvl="0" indent="0" marL="0">
              <a:buNone/>
            </a:pPr>
            <a:r>
              <a:rPr/>
              <a:t>04개발 결과 (핵심 기술 · 구현)</a:t>
            </a:r>
          </a:p>
          <a:p>
            <a:pPr lvl="0" indent="0" marL="0">
              <a:buNone/>
            </a:pPr>
            <a:r>
              <a:rPr/>
              <a:t>附부록 — AI 보고서 · ERD · API 명세</a:t>
            </a:r>
          </a:p>
          <a:p>
            <a:pPr lvl="0" indent="0" marL="0">
              <a:buNone/>
            </a:pPr>
            <a:r>
              <a:rPr/>
              <a:t>05개발 환경 &amp; 시스템 구조</a:t>
            </a:r>
          </a:p>
          <a:p>
            <a:pPr lvl="0" indent="0" marL="0">
              <a:buNone/>
            </a:pPr>
            <a:r>
              <a:rPr/>
              <a:t>01</a:t>
            </a:r>
          </a:p>
          <a:p>
            <a:pPr lvl="0" indent="0" marL="0">
              <a:buNone/>
            </a:pPr>
            <a:r>
              <a:rPr/>
              <a:t>기획 배경 · 목표</a:t>
            </a:r>
          </a:p>
          <a:p>
            <a:pPr lvl="0" indent="0" marL="0">
              <a:buNone/>
            </a:pPr>
            <a:r>
              <a:rPr/>
              <a:t>여러 서비스를 오가는 여행 계획의 피로를 한 화면으로 통합한다 — 문제 인식부터 핵심 가치, 차별화 기능, 목표 사용자까지.</a:t>
            </a:r>
          </a:p>
          <a:p>
            <a:pPr lvl="0" indent="0" marL="0">
              <a:buNone/>
            </a:pPr>
            <a:r>
              <a:rPr/>
              <a:t>문제 인식 — 흩어진 여행 계획</a:t>
            </a:r>
          </a:p>
          <a:p>
            <a:pPr lvl="0" indent="0" marL="0">
              <a:buNone/>
            </a:pPr>
            <a:r>
              <a:rPr/>
              <a:t>국내 여행을 계획할 때 사용자는 </a:t>
            </a:r>
            <a:r>
              <a:rPr b="1"/>
              <a:t>최소 4~5개의 서로 다른 서비스를 동시에</a:t>
            </a:r>
            <a:r>
              <a:rPr/>
              <a:t> 열어두고 작업한다. 가고 싶은 곳은 포털 지도로 검색하고, 운영시간·예약은 개별 사이트에서 확인하며, 이동수단과 소요시간은 대중교통 앱으로 따로 계산하고, 숙소는 예약 플랫폼에서 비교한다. 일행이 있다면 메신저·메모를 오가며 맞춰야 한다.</a:t>
            </a:r>
          </a:p>
          <a:p>
            <a:pPr lvl="0" indent="0" marL="0">
              <a:buNone/>
            </a:pPr>
            <a:r>
              <a:rPr/>
              <a:t>포털 지도</a:t>
            </a:r>
          </a:p>
          <a:p>
            <a:pPr lvl="0" indent="0" marL="0">
              <a:buNone/>
            </a:pPr>
            <a:r>
              <a:rPr/>
              <a:t>+</a:t>
            </a:r>
          </a:p>
          <a:p>
            <a:pPr lvl="0" indent="0" marL="0">
              <a:buNone/>
            </a:pPr>
            <a:r>
              <a:rPr/>
              <a:t>예약 사이트</a:t>
            </a:r>
          </a:p>
          <a:p>
            <a:pPr lvl="0" indent="0" marL="0">
              <a:buNone/>
            </a:pPr>
            <a:r>
              <a:rPr/>
              <a:t>+</a:t>
            </a:r>
          </a:p>
          <a:p>
            <a:pPr lvl="0" indent="0" marL="0">
              <a:buNone/>
            </a:pPr>
            <a:r>
              <a:rPr/>
              <a:t>대중교통 앱</a:t>
            </a:r>
          </a:p>
          <a:p>
            <a:pPr lvl="0" indent="0" marL="0">
              <a:buNone/>
            </a:pPr>
            <a:r>
              <a:rPr/>
              <a:t>+</a:t>
            </a:r>
          </a:p>
          <a:p>
            <a:pPr lvl="0" indent="0" marL="0">
              <a:buNone/>
            </a:pPr>
            <a:r>
              <a:rPr/>
              <a:t>숙소 플랫폼</a:t>
            </a:r>
          </a:p>
          <a:p>
            <a:pPr lvl="0" indent="0" marL="0">
              <a:buNone/>
            </a:pPr>
            <a:r>
              <a:rPr/>
              <a:t>+</a:t>
            </a:r>
          </a:p>
          <a:p>
            <a:pPr lvl="0" indent="0" marL="0">
              <a:buNone/>
            </a:pPr>
            <a:r>
              <a:rPr/>
              <a:t>메신저 · 메모</a:t>
            </a:r>
          </a:p>
          <a:p>
            <a:pPr lvl="0" indent="0" marL="0">
              <a:buNone/>
            </a:pPr>
            <a:r>
              <a:rPr/>
              <a:t>결국 "여행 계획을 세우는 일" 자체가 피로한 작업이 되고, 공들여 짠 일정도 현장에서 이동 시간이 어긋나면 전체 흐름이 무너진다.</a:t>
            </a:r>
          </a:p>
          <a:p>
            <a:pPr lvl="0" indent="0" marL="0">
              <a:buNone/>
            </a:pPr>
            <a:r>
              <a:rPr/>
              <a:t>핵심 불편함 — 네 가지 문제</a:t>
            </a:r>
          </a:p>
          <a:p>
            <a:pPr lvl="0" indent="0" marL="0">
              <a:buNone/>
            </a:pPr>
            <a:r>
              <a:rPr/>
              <a:t>정보의 분산</a:t>
            </a:r>
          </a:p>
          <a:p>
            <a:pPr lvl="0" indent="0" marL="0">
              <a:buNone/>
            </a:pPr>
            <a:r>
              <a:rPr/>
              <a:t>관광지·이동·숙소 정보가 서로 다른 서비스에 흩어져 통합된 뷰가 없음</a:t>
            </a:r>
          </a:p>
          <a:p>
            <a:pPr lvl="0" indent="0" marL="0">
              <a:buNone/>
            </a:pPr>
            <a:r>
              <a:rPr/>
              <a:t>수동 이동시간 계산</a:t>
            </a:r>
          </a:p>
          <a:p>
            <a:pPr lvl="0" indent="0" marL="0">
              <a:buNone/>
            </a:pPr>
            <a:r>
              <a:rPr/>
              <a:t>장소가 바뀔 때마다 이동 시간을 직접 검색해 수기로 반영해야 함</a:t>
            </a:r>
          </a:p>
          <a:p>
            <a:pPr lvl="0" indent="0" marL="0">
              <a:buNone/>
            </a:pPr>
            <a:r>
              <a:rPr/>
              <a:t>일정의 경직성</a:t>
            </a:r>
          </a:p>
          <a:p>
            <a:pPr lvl="0" indent="0" marL="0">
              <a:buNone/>
            </a:pPr>
            <a:r>
              <a:rPr/>
              <a:t>시간·장소를 옮겨도 동선을 자동 재배치·재계산해 주는 도구 부재</a:t>
            </a:r>
          </a:p>
          <a:p>
            <a:pPr lvl="0" indent="0" marL="0">
              <a:buNone/>
            </a:pPr>
            <a:r>
              <a:rPr/>
              <a:t>협업의 불편함</a:t>
            </a:r>
          </a:p>
          <a:p>
            <a:pPr lvl="0" indent="0" marL="0">
              <a:buNone/>
            </a:pPr>
            <a:r>
              <a:rPr/>
              <a:t>범용 도구는 여행 일정 특유의 시간·장소 구조와 실시간 논의에 부적합</a:t>
            </a:r>
          </a:p>
          <a:p>
            <a:pPr lvl="0" indent="0" marL="0">
              <a:buNone/>
            </a:pPr>
            <a:r>
              <a:rPr/>
              <a:t>목표 — "한 화면에서 끝나는 여행 일정 도구"</a:t>
            </a:r>
          </a:p>
          <a:p>
            <a:pPr lvl="0" indent="0" marL="0">
              <a:buNone/>
            </a:pPr>
            <a:r>
              <a:rPr/>
              <a:t>탐색 → 후보군 등록 → 드래그앤드롭 일정 확정 → 구간 이동시간 자동 계산 → 커뮤니티 공유를 </a:t>
            </a:r>
            <a:r>
              <a:rPr b="1"/>
              <a:t>끊김 없는 한 흐름</a:t>
            </a:r>
            <a:r>
              <a:rPr/>
              <a:t>으로 제공하고, 일행과는 실시간으로 함께 편집한다.</a:t>
            </a:r>
          </a:p>
          <a:p>
            <a:pPr lvl="0" indent="0" marL="0">
              <a:buNone/>
            </a:pPr>
            <a:r>
              <a:rPr/>
              <a:t>INTEGRATION</a:t>
            </a:r>
          </a:p>
          <a:p>
            <a:pPr lvl="0" indent="0" marL="0">
              <a:buNone/>
            </a:pPr>
            <a:r>
              <a:rPr/>
              <a:t>통합</a:t>
            </a:r>
          </a:p>
          <a:p>
            <a:pPr lvl="0" indent="0" marL="0">
              <a:buNone/>
            </a:pPr>
            <a:r>
              <a:rPr/>
              <a:t>탐색–후보군–타임라인–공유를 한 플로우로</a:t>
            </a:r>
          </a:p>
          <a:p>
            <a:pPr lvl="0" indent="0" marL="0">
              <a:buNone/>
            </a:pPr>
            <a:r>
              <a:rPr/>
              <a:t>AUTOMATION</a:t>
            </a:r>
          </a:p>
          <a:p>
            <a:pPr lvl="0" indent="0" marL="0">
              <a:buNone/>
            </a:pPr>
            <a:r>
              <a:rPr/>
              <a:t>자동화</a:t>
            </a:r>
          </a:p>
          <a:p>
            <a:pPr lvl="0" indent="0" marL="0">
              <a:buNone/>
            </a:pPr>
            <a:r>
              <a:rPr/>
              <a:t>도시 분류·이동시간·경로 연동이 자동 처리</a:t>
            </a:r>
          </a:p>
          <a:p>
            <a:pPr lvl="0" indent="0" marL="0">
              <a:buNone/>
            </a:pPr>
            <a:r>
              <a:rPr/>
              <a:t>FLEXIBILITY</a:t>
            </a:r>
          </a:p>
          <a:p>
            <a:pPr lvl="0" indent="0" marL="0">
              <a:buNone/>
            </a:pPr>
            <a:r>
              <a:rPr/>
              <a:t>유연성</a:t>
            </a:r>
          </a:p>
          <a:p>
            <a:pPr lvl="0" indent="0" marL="0">
              <a:buNone/>
            </a:pPr>
            <a:r>
              <a:rPr/>
              <a:t>후보군 먼저 모으고 날짜·시간은 나중에 정하는 2단계 계획</a:t>
            </a:r>
          </a:p>
          <a:p>
            <a:pPr lvl="0" indent="0" marL="0">
              <a:buNone/>
            </a:pPr>
            <a:r>
              <a:rPr/>
              <a:t>COLLABORATION</a:t>
            </a:r>
          </a:p>
          <a:p>
            <a:pPr lvl="0" indent="0" marL="0">
              <a:buNone/>
            </a:pPr>
            <a:r>
              <a:rPr/>
              <a:t>협업</a:t>
            </a:r>
          </a:p>
          <a:p>
            <a:pPr lvl="0" indent="0" marL="0">
              <a:buNone/>
            </a:pPr>
            <a:r>
              <a:rPr/>
              <a:t>여행 일정 특화 UI로 일행과 실시간 공동 편집</a:t>
            </a:r>
          </a:p>
          <a:p>
            <a:pPr lvl="0" indent="0" marL="0">
              <a:buNone/>
            </a:pPr>
            <a:r>
              <a:rPr/>
              <a:t>추가 · 차별화 기능</a:t>
            </a:r>
          </a:p>
          <a:p>
            <a:pPr lvl="0" indent="0" marL="0">
              <a:buNone/>
            </a:pPr>
            <a:r>
              <a:rPr/>
              <a:t>01</a:t>
            </a:r>
          </a:p>
          <a:p>
            <a:pPr lvl="0" indent="0" marL="0">
              <a:buNone/>
            </a:pPr>
            <a:r>
              <a:rPr/>
              <a:t>실시간 공동 편집</a:t>
            </a:r>
          </a:p>
          <a:p>
            <a:pPr lvl="0" indent="0" marL="0">
              <a:buNone/>
            </a:pPr>
            <a:r>
              <a:rPr/>
              <a:t>WebSocket(STOMP) 동시 편집 + 낙관적 락 동시성 제어 + 상대 커서 표시</a:t>
            </a:r>
          </a:p>
          <a:p>
            <a:pPr lvl="0" indent="0" marL="0">
              <a:buNone/>
            </a:pPr>
            <a:r>
              <a:rPr/>
              <a:t>02</a:t>
            </a:r>
          </a:p>
          <a:p>
            <a:pPr lvl="0" indent="0" marL="0">
              <a:buNone/>
            </a:pPr>
            <a:r>
              <a:rPr/>
              <a:t>멀티모달 이동시간</a:t>
            </a:r>
          </a:p>
          <a:p>
            <a:pPr lvl="0" indent="0" marL="0">
              <a:buNone/>
            </a:pPr>
            <a:r>
              <a:rPr/>
              <a:t>ODsay(대중교통) + T Map(자동차·도보·택시요금)을 구간별 모드 선택으로, 경로를 지도에 폴리라인 시각화</a:t>
            </a:r>
          </a:p>
          <a:p>
            <a:pPr lvl="0" indent="0" marL="0">
              <a:buNone/>
            </a:pPr>
            <a:r>
              <a:rPr/>
              <a:t>03</a:t>
            </a:r>
          </a:p>
          <a:p>
            <a:pPr lvl="0" indent="0" marL="0">
              <a:buNone/>
            </a:pPr>
            <a:r>
              <a:rPr/>
              <a:t>관광지 AI 챗봇</a:t>
            </a:r>
          </a:p>
          <a:p>
            <a:pPr lvl="0" indent="0" marL="0">
              <a:buNone/>
            </a:pPr>
            <a:r>
              <a:rPr/>
              <a:t>Spring AI 기반 컨텍스트 Q&amp;A + 반경 3km 주변 추천, 멀티턴 대화</a:t>
            </a:r>
          </a:p>
          <a:p>
            <a:pPr lvl="0" indent="0" marL="0">
              <a:buNone/>
            </a:pPr>
            <a:r>
              <a:rPr/>
              <a:t>04</a:t>
            </a:r>
          </a:p>
          <a:p>
            <a:pPr lvl="0" indent="0" marL="0">
              <a:buNone/>
            </a:pPr>
            <a:r>
              <a:rPr/>
              <a:t>공유 링크 · 커뮤니티</a:t>
            </a:r>
          </a:p>
          <a:p>
            <a:pPr lvl="0" indent="0" marL="0">
              <a:buNone/>
            </a:pPr>
            <a:r>
              <a:rPr/>
              <a:t>VIEW·EDIT 권한 공유 링크, 완성 일정의 게시판 공유, 방문 지도로 기록 자산화</a:t>
            </a:r>
          </a:p>
          <a:p>
            <a:pPr lvl="0" indent="0" marL="0">
              <a:buNone/>
            </a:pPr>
            <a:r>
              <a:rPr/>
              <a:t>목표 사용자</a:t>
            </a:r>
          </a:p>
          <a:p>
            <a:pPr lvl="0" indent="0" marL="0">
              <a:buNone/>
            </a:pPr>
            <a:r>
              <a:rPr/>
              <a:t>🧭</a:t>
            </a:r>
          </a:p>
          <a:p>
            <a:pPr lvl="0" indent="0" marL="0">
              <a:buNone/>
            </a:pPr>
            <a:r>
              <a:rPr/>
              <a:t>자유여행 선호자</a:t>
            </a:r>
          </a:p>
          <a:p>
            <a:pPr lvl="0" indent="0" marL="0">
              <a:buNone/>
            </a:pPr>
            <a:r>
              <a:rPr/>
              <a:t>국내 여행지를 직접 조사하고 동선을 설계하는 여행자</a:t>
            </a:r>
          </a:p>
          <a:p>
            <a:pPr lvl="0" indent="0" marL="0">
              <a:buNone/>
            </a:pPr>
            <a:r>
              <a:rPr/>
              <a:t>👥</a:t>
            </a:r>
          </a:p>
          <a:p>
            <a:pPr lvl="0" indent="0" marL="0">
              <a:buNone/>
            </a:pPr>
            <a:r>
              <a:rPr/>
              <a:t>소그룹 여행자</a:t>
            </a:r>
          </a:p>
          <a:p>
            <a:pPr lvl="0" indent="0" marL="0">
              <a:buNone/>
            </a:pPr>
            <a:r>
              <a:rPr/>
              <a:t>2인 이상이 함께 일정을 맞추며 계획하는 여행자</a:t>
            </a:r>
          </a:p>
          <a:p>
            <a:pPr lvl="0" indent="0" marL="0">
              <a:buNone/>
            </a:pPr>
            <a:r>
              <a:rPr/>
              <a:t>🗺️</a:t>
            </a:r>
          </a:p>
          <a:p>
            <a:pPr lvl="0" indent="0" marL="0">
              <a:buNone/>
            </a:pPr>
            <a:r>
              <a:rPr/>
              <a:t>동선 우선 여행자</a:t>
            </a:r>
          </a:p>
          <a:p>
            <a:pPr lvl="0" indent="0" marL="0">
              <a:buNone/>
            </a:pPr>
            <a:r>
              <a:rPr/>
              <a:t>촘촘함보다 유연함을 선호하되 기본 동선은 미리 잡아두고 싶은 여행자</a:t>
            </a:r>
          </a:p>
          <a:p>
            <a:pPr lvl="0" indent="0" marL="0">
              <a:buNone/>
            </a:pPr>
            <a:r>
              <a:rPr/>
              <a:t>02</a:t>
            </a:r>
          </a:p>
          <a:p>
            <a:pPr lvl="0" indent="0" marL="0">
              <a:buNone/>
            </a:pPr>
            <a:r>
              <a:rPr/>
              <a:t>추진 계획</a:t>
            </a:r>
          </a:p>
          <a:p>
            <a:pPr lvl="0" indent="0" marL="0">
              <a:buNone/>
            </a:pPr>
            <a:r>
              <a:rPr/>
              <a:t>약 6주 · 2인(전진 · 송정기) 페어 — 단계별 일정, 마일스톤, 개인 분담, 리스크 대응.</a:t>
            </a:r>
          </a:p>
          <a:p>
            <a:pPr lvl="0" indent="0" marL="0">
              <a:buNone/>
            </a:pPr>
            <a:r>
              <a:rPr/>
              <a:t>전체 일정 요약 — 5단계 6주</a:t>
            </a:r>
          </a:p>
          <a:p>
            <a:pPr lvl="0" indent="0" marL="0">
              <a:buNone/>
            </a:pPr>
            <a:r>
              <a:rPr/>
              <a:t>간트 차트</a:t>
            </a:r>
          </a:p>
          <a:p>
            <a:pPr lvl="0" indent="0" marL="0">
              <a:buNone/>
            </a:pPr>
            <a:r>
              <a:rPr/>
              <a:t>마일스톤</a:t>
            </a:r>
          </a:p>
          <a:p>
            <a:pPr lvl="0" indent="0" marL="0">
              <a:buNone/>
            </a:pPr>
            <a:r>
              <a:rPr/>
              <a:t>개인별 일정 (도메인 분담)</a:t>
            </a:r>
          </a:p>
          <a:p>
            <a:pPr lvl="0" indent="0" marL="0">
              <a:buNone/>
            </a:pPr>
            <a:r>
              <a:rPr/>
              <a:t>※ 핵심 화면(일정 편집)·협업 기능은 공동 작업, 세부 분담은 Git/MR 이력 기준.</a:t>
            </a:r>
          </a:p>
          <a:p>
            <a:pPr lvl="0" indent="0" marL="0">
              <a:buNone/>
            </a:pPr>
            <a:r>
              <a:rPr/>
              <a:t>리스크 &amp; 대응</a:t>
            </a:r>
          </a:p>
          <a:p>
            <a:pPr lvl="0" indent="0" marL="0">
              <a:buNone/>
            </a:pPr>
            <a:r>
              <a:rPr/>
              <a:t>03</a:t>
            </a:r>
          </a:p>
          <a:p>
            <a:pPr lvl="0" indent="0" marL="0">
              <a:buNone/>
            </a:pPr>
            <a:r>
              <a:rPr/>
              <a:t>시장 분석</a:t>
            </a:r>
          </a:p>
          <a:p>
            <a:pPr lvl="0" indent="0" marL="0">
              <a:buNone/>
            </a:pPr>
            <a:r>
              <a:rPr/>
              <a:t>기존 서비스는 "탐색"이나 "길찾기"는 잘하지만, 여러 장소를 동선으로 엮고 이동시간을 자동 반영하며 함께 편집하는 흐름은 비어 있다.</a:t>
            </a:r>
          </a:p>
          <a:p>
            <a:pPr lvl="0" indent="0" marL="0">
              <a:buNone/>
            </a:pPr>
            <a:r>
              <a:rPr/>
              <a:t>경쟁 서비스 비교</a:t>
            </a:r>
          </a:p>
          <a:p>
            <a:pPr lvl="0" indent="0" marL="0">
              <a:buNone/>
            </a:pPr>
            <a:r>
              <a:rPr/>
              <a:t>◎ 강점 · ◯ 지원 · △ 부분 · ✕ 미지원  |  핵심 공백 = </a:t>
            </a:r>
            <a:r>
              <a:rPr b="1"/>
              <a:t>드래그앤드롭 일정 + 구간별 이동수단 + 실시간 공동 편집</a:t>
            </a:r>
          </a:p>
          <a:p>
            <a:pPr lvl="0" indent="0" marL="0">
              <a:buNone/>
            </a:pPr>
            <a:r>
              <a:rPr/>
              <a:t>차별화 전략 — 다섯 축</a:t>
            </a:r>
          </a:p>
          <a:p>
            <a:pPr lvl="0" indent="0" marL="0">
              <a:buNone/>
            </a:pPr>
            <a:r>
              <a:rPr/>
              <a:t>01</a:t>
            </a:r>
          </a:p>
          <a:p>
            <a:pPr lvl="0" indent="0" marL="0">
              <a:buNone/>
            </a:pPr>
            <a:r>
              <a:rPr/>
              <a:t>통합 동선 설계 — 탐색·후보군·타임라인을 한 화면(작업실)에서 끊김 없이 이어 붙여 서비스 간 전환 비용 제거</a:t>
            </a:r>
          </a:p>
          <a:p>
            <a:pPr lvl="0" indent="0" marL="0">
              <a:buNone/>
            </a:pPr>
            <a:r>
              <a:rPr/>
              <a:t>02</a:t>
            </a:r>
          </a:p>
          <a:p>
            <a:pPr lvl="0" indent="0" marL="0">
              <a:buNone/>
            </a:pPr>
            <a:r>
              <a:rPr/>
              <a:t>현실적 이동시간 — ODsay + T Map을 구간별 모드 선택으로 반영해 일정이 실제 동선과 맞물리게</a:t>
            </a:r>
          </a:p>
          <a:p>
            <a:pPr lvl="0" indent="0" marL="0">
              <a:buNone/>
            </a:pPr>
            <a:r>
              <a:rPr/>
              <a:t>03</a:t>
            </a:r>
          </a:p>
          <a:p>
            <a:pPr lvl="0" indent="0" marL="0">
              <a:buNone/>
            </a:pPr>
            <a:r>
              <a:rPr/>
              <a:t>협업 우선 — 공유 링크(VIEW/EDIT) + 실시간 동시 편집(낙관적 락·상대 커서), 경쟁사 미제공 영역을 핵심 차별점으로</a:t>
            </a:r>
          </a:p>
          <a:p>
            <a:pPr lvl="0" indent="0" marL="0">
              <a:buNone/>
            </a:pPr>
            <a:r>
              <a:rPr/>
              <a:t>04</a:t>
            </a:r>
          </a:p>
          <a:p>
            <a:pPr lvl="0" indent="0" marL="0">
              <a:buNone/>
            </a:pPr>
            <a:r>
              <a:rPr/>
              <a:t>AI 도우미 — 관광지 컨텍스트 Q&amp;A + 반경 3km 주변 추천으로 탐색–결정 사이 정보 탐색 비용 절감</a:t>
            </a:r>
          </a:p>
          <a:p>
            <a:pPr lvl="0" indent="0" marL="0">
              <a:buNone/>
            </a:pPr>
            <a:r>
              <a:rPr/>
              <a:t>05</a:t>
            </a:r>
          </a:p>
          <a:p>
            <a:pPr lvl="0" indent="0" marL="0">
              <a:buNone/>
            </a:pPr>
            <a:r>
              <a:rPr/>
              <a:t>기록의 자산화 — 완성한 여행을 커뮤니티 공유와 방문 지도로 시각화해 재방문·재사용 가능한 기록으로</a:t>
            </a:r>
          </a:p>
          <a:p>
            <a:pPr lvl="0" indent="0" marL="0">
              <a:buNone/>
            </a:pPr>
            <a:r>
              <a:rPr/>
              <a:t>04</a:t>
            </a:r>
          </a:p>
          <a:p>
            <a:pPr lvl="0" indent="0" marL="0">
              <a:buNone/>
            </a:pPr>
            <a:r>
              <a:rPr/>
              <a:t>개발 결과 — 핵심 기술 · 구현</a:t>
            </a:r>
          </a:p>
          <a:p>
            <a:pPr lvl="0" indent="0" marL="0">
              <a:buNone/>
            </a:pPr>
            <a:r>
              <a:rPr/>
              <a:t>회원·인증 → 관광지 → 일정·드래그앤드롭 → 이동시간·경로 → 협업·공유 → 커뮤니티 → AI·마이페이지.</a:t>
            </a:r>
          </a:p>
          <a:p>
            <a:pPr lvl="0" indent="0" marL="0">
              <a:buNone/>
            </a:pPr>
            <a:r>
              <a:rPr/>
              <a:t>회원 · 인증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Spring Security + JWT</a:t>
            </a:r>
            <a:r>
              <a:rPr/>
              <a:t> — Access 30분 / Refresh 7일을 HttpOnly 쿠키로 발급, </a:t>
            </a:r>
            <a:r>
              <a:rPr>
                <a:latin typeface="Courier"/>
              </a:rPr>
              <a:t>JwtAuthenticationFilter</a:t>
            </a:r>
            <a:r>
              <a:rPr/>
              <a:t> 매 요청 검증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토큰 재발급</a:t>
            </a:r>
            <a:r>
              <a:rPr/>
              <a:t> — 만료 시 </a:t>
            </a:r>
            <a:r>
              <a:rPr>
                <a:latin typeface="Courier"/>
              </a:rPr>
              <a:t>/api/auth/refresh</a:t>
            </a:r>
            <a:r>
              <a:rPr/>
              <a:t>로 자동 재발급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BCrypt 해시</a:t>
            </a:r>
            <a:r>
              <a:rPr/>
              <a:t> — 비밀번호 평문 저장 금지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Kakao OAuth</a:t>
            </a:r>
            <a:r>
              <a:rPr/>
              <a:t> — 카카오 간편 로그인, 이메일 가입과 병행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탈퇴 정책</a:t>
            </a:r>
            <a:r>
              <a:rPr/>
              <a:t> — 일정·즐겨찾기·좋아요 삭제, 게시글·공지는 "탈퇴한 사용자"로 보존</a:t>
            </a:r>
          </a:p>
          <a:p>
            <a:pPr lvl="0" indent="0" marL="0">
              <a:buNone/>
            </a:pPr>
            <a:r>
              <a:rPr/>
              <a:t>로그인 / 회원가입</a:t>
            </a:r>
          </a:p>
          <a:p>
            <a:pPr lvl="0" indent="0" marL="0">
              <a:buNone/>
            </a:pPr>
            <a:r>
              <a:rPr/>
              <a:t>로그인 화면</a:t>
            </a:r>
          </a:p>
          <a:p>
            <a:pPr lvl="0" indent="0" marL="0">
              <a:buNone/>
            </a:pPr>
            <a:r>
              <a:rPr/>
              <a:t>카카오 OAuth</a:t>
            </a:r>
          </a:p>
          <a:p>
            <a:pPr lvl="0" indent="0" marL="0">
              <a:buNone/>
            </a:pPr>
            <a:r>
              <a:rPr/>
              <a:t>카카오 로그인</a:t>
            </a:r>
          </a:p>
          <a:p>
            <a:pPr lvl="0" indent="0" marL="0">
              <a:buNone/>
            </a:pPr>
            <a:r>
              <a:rPr/>
              <a:t>관광지 탐색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TourAPI 4.0 일괄 수집</a:t>
            </a:r>
            <a:r>
              <a:rPr/>
              <a:t> — 관광지·문화시설·레포츠·숙박·쇼핑·음식점을 자체 DB로, </a:t>
            </a:r>
            <a:r>
              <a:rPr>
                <a:latin typeface="Courier"/>
              </a:rPr>
              <a:t>api_modified_at</a:t>
            </a:r>
            <a:r>
              <a:rPr/>
              <a:t> 증분 동기화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조회</a:t>
            </a:r>
            <a:r>
              <a:rPr/>
              <a:t> — 시도·시군구 / 카테고리 / 키워드 필터, 카드 그리드 + 페이지네이션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상세</a:t>
            </a:r>
            <a:r>
              <a:rPr/>
              <a:t> — 소개·이미지·이용안내(detail*)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지도 연동</a:t>
            </a:r>
            <a:r>
              <a:rPr/>
              <a:t> — 네이버 지도 마커·InfoWindow, 핀 클릭 시 상세 패널</a:t>
            </a:r>
          </a:p>
          <a:p>
            <a:pPr lvl="0" indent="0" marL="0">
              <a:buNone/>
            </a:pPr>
            <a:r>
              <a:rPr/>
              <a:t>관광지 탐색 화면</a:t>
            </a:r>
          </a:p>
          <a:p>
            <a:pPr lvl="0" indent="0" marL="0">
              <a:buNone/>
            </a:pPr>
            <a:r>
              <a:rPr/>
              <a:t>일정 · 드래그앤드롭 타임라인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Trip → Candidate → Block</a:t>
            </a:r>
            <a:r>
              <a:rPr/>
              <a:t> 3계층 모델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vuedraggable</a:t>
            </a:r>
            <a:r>
              <a:rPr/>
              <a:t> — 후보군을 Day 타임라인으로 드래그, 체류시간 핸들로 </a:t>
            </a:r>
            <a:r>
              <a:rPr b="1"/>
              <a:t>30분 스냅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도시 자동 분류</a:t>
            </a:r>
            <a:r>
              <a:rPr/>
              <a:t> — 후보군을 시군구 코드 기준 그룹화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중복 방문 허용</a:t>
            </a:r>
            <a:r>
              <a:rPr/>
              <a:t>, 사이드바 드롭으로 삭제, </a:t>
            </a:r>
            <a:r>
              <a:rPr>
                <a:latin typeface="Courier"/>
              </a:rPr>
              <a:t>display_order</a:t>
            </a:r>
            <a:r>
              <a:rPr/>
              <a:t> 순서 관리</a:t>
            </a:r>
          </a:p>
          <a:p>
            <a:pPr lvl="0" indent="0" marL="0">
              <a:buNone/>
            </a:pPr>
            <a:r>
              <a:rPr/>
              <a:t>·날짜 범위 이탈은 DB </a:t>
            </a:r>
            <a:r>
              <a:rPr b="1"/>
              <a:t>TRIGGER</a:t>
            </a:r>
            <a:r>
              <a:rPr/>
              <a:t>로 방어</a:t>
            </a:r>
          </a:p>
          <a:p>
            <a:pPr lvl="0" indent="0" marL="0">
              <a:buNone/>
            </a:pPr>
            <a:r>
              <a:rPr/>
              <a:t>일정 작업실 드래그앤드롭</a:t>
            </a:r>
          </a:p>
          <a:p>
            <a:pPr lvl="0" indent="0" marL="0">
              <a:buNone/>
            </a:pPr>
            <a:r>
              <a:rPr/>
              <a:t>이동시간 · 경로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ODsay + T Map</a:t>
            </a:r>
            <a:r>
              <a:rPr/>
              <a:t> — 구간별 모드(대중교통·자동차·도보)와 택시 예상 요금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TransitPill</a:t>
            </a:r>
            <a:r>
              <a:rPr/>
              <a:t> — 블록 사이에 소요시간·수단 자동 삽입, 클릭 시 모드 변경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모드별 캐시</a:t>
            </a:r>
            <a:r>
              <a:rPr/>
              <a:t> — (좌표 route_key, 시각대, 모드) 키로 무료 API 쿼터 보호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노선 폴리라인</a:t>
            </a:r>
            <a:r>
              <a:rPr/>
              <a:t> — 구간별 색·환승/역 마커·방향 화살표를 네이버 지도에 시각화</a:t>
            </a:r>
          </a:p>
          <a:p>
            <a:pPr lvl="0" indent="0" marL="0">
              <a:buNone/>
            </a:pPr>
            <a:r>
              <a:rPr/>
              <a:t>이동수단 선택 모달과 경로 지도</a:t>
            </a:r>
          </a:p>
          <a:p>
            <a:pPr lvl="0" indent="0" marL="0">
              <a:buNone/>
            </a:pPr>
            <a:r>
              <a:rPr/>
              <a:t>실시간 협업 · 공유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WebSocket(STOMP)</a:t>
            </a:r>
            <a:r>
              <a:rPr/>
              <a:t> — </a:t>
            </a:r>
            <a:r>
              <a:rPr>
                <a:latin typeface="Courier"/>
              </a:rPr>
              <a:t>/topic/trip/{id}</a:t>
            </a:r>
            <a:r>
              <a:rPr/>
              <a:t> 편집 브로드캐스트, presence로 커서·참가자 동기화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공유 링크</a:t>
            </a:r>
            <a:r>
              <a:rPr/>
              <a:t> — PRIVATE / VIEW / EDIT 접근 레벨 + URL-safe 토큰, 비로그인 조회 가능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협업자</a:t>
            </a:r>
            <a:r>
              <a:rPr/>
              <a:t> — 닉네임·이메일로 EDITOR / VIEWER 초대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동시성 제어</a:t>
            </a:r>
            <a:r>
              <a:rPr/>
              <a:t> — </a:t>
            </a:r>
            <a:r>
              <a:rPr>
                <a:latin typeface="Courier"/>
              </a:rPr>
              <a:t>trip_block.version</a:t>
            </a:r>
            <a:r>
              <a:rPr/>
              <a:t> 낙관적 락 (§7 상세)</a:t>
            </a:r>
          </a:p>
          <a:p>
            <a:pPr lvl="0" indent="0" marL="0">
              <a:buNone/>
            </a:pPr>
            <a:r>
              <a:rPr/>
              <a:t>공유 모달</a:t>
            </a:r>
          </a:p>
          <a:p>
            <a:pPr lvl="0" indent="0" marL="0">
              <a:buNone/>
            </a:pPr>
            <a:r>
              <a:rPr/>
              <a:t>커뮤니티 — 여행 이야기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게시판</a:t>
            </a:r>
            <a:r>
              <a:rPr/>
              <a:t> — 완성 일정 공유, Tiptap 에디터, 커버 이미지, 일정 연결·미리보기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좋아요·북마크·댓글</a:t>
            </a:r>
            <a:r>
              <a:rPr/>
              <a:t> — 1단계 대댓글, 글 소프트 딜리트 시에도 북마크 보존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일정 그대로 가져오기</a:t>
            </a:r>
            <a:r>
              <a:rPr/>
              <a:t> — 시작일만 정하면 날짜 간격 유지하며 내 일정으로 복제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공지사항</a:t>
            </a:r>
            <a:r>
              <a:rPr/>
              <a:t> — 관리자 CRUD, 사이드바 최신 5건</a:t>
            </a:r>
          </a:p>
          <a:p>
            <a:pPr lvl="0" indent="0" marL="0">
              <a:buNone/>
            </a:pPr>
            <a:r>
              <a:rPr/>
              <a:t>여행 이야기 목록</a:t>
            </a:r>
          </a:p>
          <a:p>
            <a:pPr lvl="0" indent="0" marL="0">
              <a:buNone/>
            </a:pPr>
            <a:r>
              <a:rPr/>
              <a:t>여행 이야기 상세</a:t>
            </a:r>
          </a:p>
          <a:p>
            <a:pPr lvl="0" indent="0" marL="0">
              <a:buNone/>
            </a:pPr>
            <a:r>
              <a:rPr/>
              <a:t>AI 챗봇 · 마이페이지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관광지 AI 챗봇</a:t>
            </a:r>
            <a:r>
              <a:rPr/>
              <a:t> — Spring AI + gms(gpt-4.1) 컨텍스트 Q&amp;A, 멀티턴, 반경 3km 주변 추천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마이페이지 7탭</a:t>
            </a:r>
            <a:r>
              <a:rPr/>
              <a:t> — 여행·내정보·내장소·방문지도·내가쓴글·북마크·좋아요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내 장소</a:t>
            </a:r>
            <a:r>
              <a:rPr/>
              <a:t> — Kakao Local 검색으로 커스텀 장소 저장·재사용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방문 지도</a:t>
            </a:r>
            <a:r>
              <a:rPr/>
              <a:t> — 대한민국 지도에 방문 지역 사진 하이라이트 + 진행률</a:t>
            </a:r>
          </a:p>
          <a:p>
            <a:pPr lvl="0" indent="0" marL="0">
              <a:buNone/>
            </a:pPr>
            <a:r>
              <a:rPr/>
              <a:t>방문 지도</a:t>
            </a:r>
          </a:p>
          <a:p>
            <a:pPr lvl="0" indent="0" marL="0">
              <a:buNone/>
            </a:pPr>
            <a:r>
              <a:rPr/>
              <a:t>05</a:t>
            </a:r>
          </a:p>
          <a:p>
            <a:pPr lvl="0" indent="0" marL="0">
              <a:buNone/>
            </a:pPr>
            <a:r>
              <a:rPr/>
              <a:t>개발 환경 &amp; 시스템 구조</a:t>
            </a:r>
          </a:p>
          <a:p>
            <a:pPr lvl="0" indent="0" marL="0">
              <a:buNone/>
            </a:pPr>
            <a:r>
              <a:rPr/>
              <a:t>기술 스택, 클라이언트–서버–DB–외부 API 구조도, 그리고 인증·공통 응답·보안 설계.</a:t>
            </a:r>
          </a:p>
          <a:p>
            <a:pPr lvl="0" indent="0" marL="0">
              <a:buNone/>
            </a:pPr>
            <a:r>
              <a:rPr/>
              <a:t>기술 스택</a:t>
            </a:r>
          </a:p>
          <a:p>
            <a:pPr lvl="0" indent="0" marL="0">
              <a:buNone/>
            </a:pPr>
            <a:r>
              <a:rPr/>
              <a:t>전체 시스템 구조도</a:t>
            </a:r>
          </a:p>
          <a:p>
            <a:pPr lvl="0" indent="0" marL="0">
              <a:buNone/>
            </a:pPr>
            <a:r>
              <a:rPr/>
              <a:t>인증 흐름 · 공통 응답 · 보안</a:t>
            </a:r>
          </a:p>
          <a:p>
            <a:pPr lvl="0" indent="0" marL="0">
              <a:buNone/>
            </a:pPr>
            <a:r>
              <a:rPr/>
              <a:t>인증 흐름</a:t>
            </a:r>
          </a:p>
          <a:p>
            <a:pPr lvl="0" indent="0" marL="0">
              <a:buNone/>
            </a:pPr>
            <a:r>
              <a:rPr/>
              <a:t>로그인 → </a:t>
            </a:r>
            <a:r>
              <a:rPr>
                <a:latin typeface="Courier"/>
              </a:rPr>
              <a:t>access_token</a:t>
            </a:r>
            <a:r>
              <a:rPr/>
              <a:t>·</a:t>
            </a:r>
            <a:r>
              <a:rPr>
                <a:latin typeface="Courier"/>
              </a:rPr>
              <a:t>refresh_token</a:t>
            </a:r>
            <a:r>
              <a:rPr/>
              <a:t>을 HttpOnly 쿠키로 발급 → </a:t>
            </a:r>
            <a:r>
              <a:rPr>
                <a:latin typeface="Courier"/>
              </a:rPr>
              <a:t>JwtAuthenticationFilter</a:t>
            </a:r>
            <a:r>
              <a:rPr/>
              <a:t>가 매 요청 검증 → 만료 시 </a:t>
            </a:r>
            <a:r>
              <a:rPr>
                <a:latin typeface="Courier"/>
              </a:rPr>
              <a:t>/api/auth/refresh</a:t>
            </a:r>
          </a:p>
          <a:p>
            <a:pPr lvl="0" indent="0" marL="0">
              <a:buNone/>
            </a:pPr>
            <a:r>
              <a:rPr/>
              <a:t>공통 응답</a:t>
            </a:r>
          </a:p>
          <a:p>
            <a:pPr lvl="0" indent="0" marL="0">
              <a:buNone/>
            </a:pPr>
            <a:r>
              <a:rPr/>
              <a:t>모든 API는 </a:t>
            </a:r>
            <a:r>
              <a:rPr>
                <a:latin typeface="Courier"/>
              </a:rPr>
              <a:t>ApiResponse&lt;T&gt;</a:t>
            </a:r>
            <a:r>
              <a:rPr/>
              <a:t> = </a:t>
            </a:r>
            <a:r>
              <a:rPr>
                <a:latin typeface="Courier"/>
              </a:rPr>
              <a:t>{ success, data, message, errorCode }</a:t>
            </a:r>
            <a:r>
              <a:rPr/>
              <a:t>로 래핑. </a:t>
            </a:r>
            <a:r>
              <a:rPr>
                <a:latin typeface="Courier"/>
              </a:rPr>
              <a:t>GlobalExceptionHandler</a:t>
            </a:r>
            <a:r>
              <a:rPr/>
              <a:t>가 예외를 일관된 코드로 변환</a:t>
            </a:r>
          </a:p>
          <a:p>
            <a:pPr lvl="0" indent="0" marL="0">
              <a:buNone/>
            </a:pPr>
            <a:r>
              <a:rPr/>
              <a:t>권한</a:t>
            </a:r>
          </a:p>
          <a:p>
            <a:pPr lvl="0" indent="0" marL="0">
              <a:buNone/>
            </a:pPr>
            <a:r>
              <a:rPr/>
              <a:t>서버 측 소유권 검증(클라이언트 권한만으로 처리 금지). 관리자 기능은 </a:t>
            </a:r>
            <a:r>
              <a:rPr>
                <a:latin typeface="Courier"/>
              </a:rPr>
              <a:t>role=ADMIN</a:t>
            </a:r>
            <a:r>
              <a:rPr/>
              <a:t> 검사</a:t>
            </a:r>
          </a:p>
          <a:p>
            <a:pPr lvl="0" indent="0" marL="0">
              <a:buNone/>
            </a:pPr>
            <a:r>
              <a:rPr/>
              <a:t>보안 기본</a:t>
            </a:r>
          </a:p>
          <a:p>
            <a:pPr lvl="0" indent="0" marL="0">
              <a:buNone/>
            </a:pPr>
            <a:r>
              <a:rPr/>
              <a:t>BCrypt 해시 · MyBatis </a:t>
            </a:r>
            <a:r>
              <a:rPr>
                <a:latin typeface="Courier"/>
              </a:rPr>
              <a:t>#{}</a:t>
            </a:r>
            <a:r>
              <a:rPr/>
              <a:t> 바인딩(SQL Injection 방지) · API 키 전부 환경변수 주입(하드코딩 금지) · CORS 허용 Origin 명시</a:t>
            </a:r>
          </a:p>
          <a:p>
            <a:pPr lvl="0" indent="0" marL="0">
              <a:buNone/>
            </a:pPr>
            <a:r>
              <a:rPr/>
              <a:t>06</a:t>
            </a:r>
          </a:p>
          <a:p>
            <a:pPr lvl="0" indent="0" marL="0">
              <a:buNone/>
            </a:pPr>
            <a:r>
              <a:rPr/>
              <a:t>화면 흐름도 및 시연</a:t>
            </a:r>
          </a:p>
          <a:p>
            <a:pPr lvl="0" indent="0" marL="0">
              <a:buNone/>
            </a:pPr>
            <a:r>
              <a:rPr/>
              <a:t>정보 구조와 라우트, 두 갈래 화면 흐름도, 핵심 화면 갤러리, 그리고 시연 시나리오.</a:t>
            </a:r>
          </a:p>
          <a:p>
            <a:pPr lvl="0" indent="0" marL="0">
              <a:buNone/>
            </a:pPr>
            <a:r>
              <a:rPr/>
              <a:t>정보 구조(IA) &amp; 라우트</a:t>
            </a:r>
          </a:p>
          <a:p>
            <a:pPr lvl="0" indent="0" marL="0">
              <a:buNone/>
            </a:pPr>
            <a:r>
              <a:rPr/>
              <a:t>라우트 가드(</a:t>
            </a:r>
            <a:r>
              <a:rPr>
                <a:latin typeface="Courier"/>
              </a:rPr>
              <a:t>router.beforeEach</a:t>
            </a:r>
            <a:r>
              <a:rPr/>
              <a:t>): </a:t>
            </a:r>
            <a:r>
              <a:rPr>
                <a:latin typeface="Courier"/>
              </a:rPr>
              <a:t>requiresAuth</a:t>
            </a:r>
            <a:r>
              <a:rPr/>
              <a:t> 검사, 로그인 사용자 </a:t>
            </a:r>
            <a:r>
              <a:rPr>
                <a:latin typeface="Courier"/>
              </a:rPr>
              <a:t>/discover</a:t>
            </a:r>
            <a:r>
              <a:rPr/>
              <a:t>→</a:t>
            </a:r>
            <a:r>
              <a:rPr>
                <a:latin typeface="Courier"/>
              </a:rPr>
              <a:t>/plan</a:t>
            </a:r>
            <a:r>
              <a:rPr/>
              <a:t> 리다이렉트, 공유 링크 비로그인 조회 허용, </a:t>
            </a:r>
            <a:r>
              <a:rPr>
                <a:latin typeface="Courier"/>
              </a:rPr>
              <a:t>requiresAdmin</a:t>
            </a:r>
            <a:r>
              <a:rPr/>
              <a:t> 역할 검사.</a:t>
            </a:r>
          </a:p>
          <a:p>
            <a:pPr lvl="0" indent="0" marL="0">
              <a:buNone/>
            </a:pPr>
            <a:r>
              <a:rPr/>
              <a:t>화면 흐름도 ① 진입 · 작업실</a:t>
            </a:r>
          </a:p>
          <a:p>
            <a:pPr lvl="0" indent="0" marL="0">
              <a:buNone/>
            </a:pPr>
            <a:r>
              <a:rPr/>
              <a:t>화면 흐름도 ② GNB · 커뮤니티 · 마이페이지</a:t>
            </a:r>
          </a:p>
          <a:p>
            <a:pPr lvl="0" indent="0" marL="0">
              <a:buNone/>
            </a:pPr>
            <a:r>
              <a:rPr/>
              <a:t>핵심 화면 — 진입 · 탐색</a:t>
            </a:r>
          </a:p>
          <a:p>
            <a:pPr lvl="0" indent="0" marL="0">
              <a:buNone/>
            </a:pPr>
            <a:r>
              <a:rPr/>
              <a:t>랜딩 페이지</a:t>
            </a:r>
          </a:p>
          <a:p>
            <a:pPr lvl="0" indent="0" marL="0">
              <a:buNone/>
            </a:pPr>
            <a:r>
              <a:rPr/>
              <a:t>랜딩</a:t>
            </a:r>
          </a:p>
          <a:p>
            <a:pPr lvl="0" indent="0" marL="0">
              <a:buNone/>
            </a:pPr>
            <a:r>
              <a:rPr/>
              <a:t>관광지 탐색 (지도)</a:t>
            </a:r>
          </a:p>
          <a:p>
            <a:pPr lvl="0" indent="0" marL="0">
              <a:buNone/>
            </a:pPr>
            <a:r>
              <a:rPr/>
              <a:t>탐색</a:t>
            </a:r>
          </a:p>
          <a:p>
            <a:pPr lvl="0" indent="0" marL="0">
              <a:buNone/>
            </a:pPr>
            <a:r>
              <a:rPr/>
              <a:t>회원가입</a:t>
            </a:r>
          </a:p>
          <a:p>
            <a:pPr lvl="0" indent="0" marL="0">
              <a:buNone/>
            </a:pPr>
            <a:r>
              <a:rPr/>
              <a:t>회원가입</a:t>
            </a:r>
          </a:p>
          <a:p>
            <a:pPr lvl="0" indent="0" marL="0">
              <a:buNone/>
            </a:pPr>
            <a:r>
              <a:rPr/>
              <a:t>핵심 화면 — 작업실 · 장소 추가</a:t>
            </a:r>
          </a:p>
          <a:p>
            <a:pPr lvl="0" indent="0" marL="0">
              <a:buNone/>
            </a:pPr>
            <a:r>
              <a:rPr/>
              <a:t>일정 편집 + 경로 지도</a:t>
            </a:r>
          </a:p>
          <a:p>
            <a:pPr lvl="0" indent="0" marL="0">
              <a:buNone/>
            </a:pPr>
            <a:r>
              <a:rPr/>
              <a:t>일정 편집</a:t>
            </a:r>
          </a:p>
          <a:p>
            <a:pPr lvl="0" indent="0" marL="0">
              <a:buNone/>
            </a:pPr>
            <a:r>
              <a:rPr/>
              <a:t>장소 추가 — 내 장소</a:t>
            </a:r>
          </a:p>
          <a:p>
            <a:pPr lvl="0" indent="0" marL="0">
              <a:buNone/>
            </a:pPr>
            <a:r>
              <a:rPr/>
              <a:t>장소 추가 내 장소</a:t>
            </a:r>
          </a:p>
          <a:p>
            <a:pPr lvl="0" indent="0" marL="0">
              <a:buNone/>
            </a:pPr>
            <a:r>
              <a:rPr/>
              <a:t>장소 추가 — 직접 추가</a:t>
            </a:r>
          </a:p>
          <a:p>
            <a:pPr lvl="0" indent="0" marL="0">
              <a:buNone/>
            </a:pPr>
            <a:r>
              <a:rPr/>
              <a:t>장소 직접 추가</a:t>
            </a:r>
          </a:p>
          <a:p>
            <a:pPr lvl="0" indent="0" marL="0">
              <a:buNone/>
            </a:pPr>
            <a:r>
              <a:rPr/>
              <a:t>핵심 화면 — 마이페이지 · 가져오기</a:t>
            </a:r>
          </a:p>
          <a:p>
            <a:pPr lvl="0" indent="0" marL="0">
              <a:buNone/>
            </a:pPr>
            <a:r>
              <a:rPr/>
              <a:t>내 여행</a:t>
            </a:r>
          </a:p>
          <a:p>
            <a:pPr lvl="0" indent="0" marL="0">
              <a:buNone/>
            </a:pPr>
            <a:r>
              <a:rPr/>
              <a:t>내 여행</a:t>
            </a:r>
          </a:p>
          <a:p>
            <a:pPr lvl="0" indent="0" marL="0">
              <a:buNone/>
            </a:pPr>
            <a:r>
              <a:rPr/>
              <a:t>내 정보</a:t>
            </a:r>
          </a:p>
          <a:p>
            <a:pPr lvl="0" indent="0" marL="0">
              <a:buNone/>
            </a:pPr>
            <a:r>
              <a:rPr/>
              <a:t>내 정보</a:t>
            </a:r>
          </a:p>
          <a:p>
            <a:pPr lvl="0" indent="0" marL="0">
              <a:buNone/>
            </a:pPr>
            <a:r>
              <a:rPr/>
              <a:t>내가 쓴 글</a:t>
            </a:r>
          </a:p>
          <a:p>
            <a:pPr lvl="0" indent="0" marL="0">
              <a:buNone/>
            </a:pPr>
            <a:r>
              <a:rPr/>
              <a:t>내가 쓴 글</a:t>
            </a:r>
          </a:p>
          <a:p>
            <a:pPr lvl="0" indent="0" marL="0">
              <a:buNone/>
            </a:pPr>
            <a:r>
              <a:rPr/>
              <a:t>일정 가져오기</a:t>
            </a:r>
          </a:p>
          <a:p>
            <a:pPr lvl="0" indent="0" marL="0">
              <a:buNone/>
            </a:pPr>
            <a:r>
              <a:rPr/>
              <a:t>일정 가져오기</a:t>
            </a:r>
          </a:p>
          <a:p>
            <a:pPr lvl="0" indent="0" marL="0">
              <a:buNone/>
            </a:pPr>
            <a:r>
              <a:rPr/>
              <a:t>시연 시나리오 — 약 3분 · 탐색 → 일정 → 협업 → 커뮤니티 → 마이페이지</a:t>
            </a:r>
          </a:p>
          <a:p>
            <a:pPr lvl="0" indent="0" marL="0">
              <a:buNone/>
            </a:pPr>
            <a:r>
              <a:rPr/>
              <a:t>01오프닝 · 랜딩 — 비회원 탐색 가능 영역 소개</a:t>
            </a:r>
          </a:p>
          <a:p>
            <a:pPr lvl="0" indent="0" marL="0">
              <a:buNone/>
            </a:pPr>
            <a:r>
              <a:rPr/>
              <a:t>07여행 이야기 · 가져오기 — 좋아요·북마크·댓글·복제</a:t>
            </a:r>
          </a:p>
          <a:p>
            <a:pPr lvl="0" indent="0" marL="0">
              <a:buNone/>
            </a:pPr>
            <a:r>
              <a:rPr/>
              <a:t>02로그인 · 회원가입 — 카카오 간편 로그인</a:t>
            </a:r>
          </a:p>
          <a:p>
            <a:pPr lvl="0" indent="0" marL="0">
              <a:buNone/>
            </a:pPr>
            <a:r>
              <a:rPr/>
              <a:t>08글쓰기 · 수정 — 제목·내용·대표사진·일정 연결</a:t>
            </a:r>
          </a:p>
          <a:p>
            <a:pPr lvl="0" indent="0" marL="0">
              <a:buNone/>
            </a:pPr>
            <a:r>
              <a:rPr/>
              <a:t>03관광지 탐색 — 검색·지도·목록</a:t>
            </a:r>
          </a:p>
          <a:p>
            <a:pPr lvl="0" indent="0" marL="0">
              <a:buNone/>
            </a:pPr>
            <a:r>
              <a:rPr/>
              <a:t>09방문 지도 — 시도/시군구 토글·사진</a:t>
            </a:r>
          </a:p>
          <a:p>
            <a:pPr lvl="0" indent="0" marL="0">
              <a:buNone/>
            </a:pPr>
            <a:r>
              <a:rPr/>
              <a:t>04상세 · 챗봇 · 담기 — AI 추천 후 보관함 담기</a:t>
            </a:r>
          </a:p>
          <a:p>
            <a:pPr lvl="0" indent="0" marL="0">
              <a:buNone/>
            </a:pPr>
            <a:r>
              <a:rPr/>
              <a:t>10마이페이지 관리 — 내 여행·내 정보·내 장소·북마크</a:t>
            </a:r>
          </a:p>
          <a:p>
            <a:pPr lvl="0" indent="0" marL="0">
              <a:buNone/>
            </a:pPr>
            <a:r>
              <a:rPr/>
              <a:t>05일정 작업실 — 드래그 배치·지도·이동수단·내 장소</a:t>
            </a:r>
          </a:p>
          <a:p>
            <a:pPr lvl="0" indent="0" marL="0">
              <a:buNone/>
            </a:pPr>
            <a:r>
              <a:rPr/>
              <a:t>11클로징 — 계획부터 공유까지, 마무리 인사</a:t>
            </a:r>
          </a:p>
          <a:p>
            <a:pPr lvl="0" indent="0" marL="0">
              <a:buNone/>
            </a:pPr>
            <a:r>
              <a:rPr/>
              <a:t>06실시간 협업 · 공유 — 동행자 초대·읽기전용 링크</a:t>
            </a:r>
          </a:p>
          <a:p>
            <a:pPr lvl="0" indent="0" marL="0">
              <a:buNone/>
            </a:pPr>
            <a:r>
              <a:rPr/>
              <a:t>07</a:t>
            </a:r>
          </a:p>
          <a:p>
            <a:pPr lvl="0" indent="0" marL="0">
              <a:buNone/>
            </a:pPr>
            <a:r>
              <a:rPr/>
              <a:t>적용 패턴 및 핵심 알고리즘</a:t>
            </a:r>
          </a:p>
          <a:p>
            <a:pPr lvl="0" indent="0" marL="0">
              <a:buNone/>
            </a:pPr>
            <a:r>
              <a:rPr/>
              <a:t>경로 합성·다층 캐싱 · 드래그 타임라인 · 실시간 협업(낙관적 락·상대 좌표 커서) · AI 추천 · 데이터 보존.</a:t>
            </a:r>
          </a:p>
          <a:p>
            <a:pPr lvl="0" indent="0" marL="0">
              <a:buNone/>
            </a:pPr>
            <a:r>
              <a:rPr/>
              <a:t>왜 무료 API 조합인가</a:t>
            </a:r>
          </a:p>
          <a:p>
            <a:pPr lvl="0" indent="0" marL="0">
              <a:buNone/>
            </a:pPr>
            <a:r>
              <a:rPr/>
              <a:t>"출발지→목적지 몇 분"을 구하는 가장 쉬운 길은 </a:t>
            </a:r>
            <a:r>
              <a:rPr b="1"/>
              <a:t>유료 단일 API</a:t>
            </a:r>
            <a:r>
              <a:rPr/>
              <a:t>(Kakao Mobility 등)다. 우리는 비용을 피해 </a:t>
            </a:r>
            <a:r>
              <a:rPr b="1"/>
              <a:t>무료 API 조합</a:t>
            </a:r>
            <a:r>
              <a:rPr/>
              <a:t>(ODsay·T Map·Naver)을 택했고, 그 대가가 이 장의 두 축 — </a:t>
            </a:r>
            <a:r>
              <a:rPr b="1"/>
              <a:t>합성</a:t>
            </a:r>
            <a:r>
              <a:rPr/>
              <a:t>과 </a:t>
            </a:r>
            <a:r>
              <a:rPr b="1"/>
              <a:t>캐싱</a:t>
            </a:r>
            <a:r>
              <a:rPr/>
              <a:t>이다.</a:t>
            </a:r>
          </a:p>
          <a:p>
            <a:pPr lvl="0" indent="0" marL="0">
              <a:buNone/>
            </a:pPr>
            <a:r>
              <a:rPr/>
              <a:t>어려움의 본질 세 가지: </a:t>
            </a:r>
            <a:r>
              <a:rPr b="1"/>
              <a:t>파싱</a:t>
            </a:r>
            <a:r>
              <a:rPr/>
              <a:t>(깊게 중첩된 ODsay JSON) · </a:t>
            </a:r>
            <a:r>
              <a:rPr b="1"/>
              <a:t>조합</a:t>
            </a:r>
            <a:r>
              <a:rPr/>
              <a:t>(도시간 경로의 접근 구간 보강 + 노선 폴리라인 별도 호출) · </a:t>
            </a:r>
            <a:r>
              <a:rPr b="1"/>
              <a:t>호출 제한</a:t>
            </a:r>
            <a:r>
              <a:rPr/>
              <a:t>(같은 좌표 반복 호출 시 빈 응답).</a:t>
            </a:r>
          </a:p>
          <a:p>
            <a:pPr lvl="0" indent="0" marL="0">
              <a:buNone/>
            </a:pPr>
            <a:r>
              <a:rPr/>
              <a:t>경로 API 오케스트레이션</a:t>
            </a:r>
          </a:p>
          <a:p>
            <a:pPr lvl="0" indent="0" marL="0">
              <a:buNone/>
            </a:pPr>
            <a:r>
              <a:rPr/>
              <a:t>경로 합성 · 보강 (조립)</a:t>
            </a:r>
          </a:p>
          <a:p>
            <a:pPr lvl="0" indent="0" marL="0">
              <a:buNone/>
            </a:pPr>
            <a:r>
              <a:rPr b="1"/>
              <a:t>총분 = localFrom + interTime + localTo</a:t>
            </a:r>
            <a:br/>
            <a:r>
              <a:rPr/>
              <a:t>도시간(KTX) 경로 앞뒤에 접근 구간을 이어붙여 비현실적으로 짧던 소요시간을 교정</a:t>
            </a:r>
          </a:p>
          <a:p>
            <a:pPr lvl="0" indent="0" marL="0">
              <a:buNone/>
            </a:pPr>
            <a:r>
              <a:rPr b="1"/>
              <a:t>경로별 독립 계산</a:t>
            </a:r>
            <a:r>
              <a:rPr/>
              <a:t> — 출발역이 다른(수서/서울/강남) 경로마다 자기 역 좌표로 따로 계산</a:t>
            </a:r>
          </a:p>
          <a:p>
            <a:pPr lvl="0" indent="0" marL="0">
              <a:buNone/>
            </a:pPr>
            <a:r>
              <a:rPr b="1"/>
              <a:t>좌표키 캐시 + 중복 제거</a:t>
            </a:r>
            <a:r>
              <a:rPr/>
              <a:t> — 같은 역 공유로 20~40회 호출을 고유 역 수(1~3회)로 절감</a:t>
            </a:r>
          </a:p>
          <a:p>
            <a:pPr lvl="0" indent="0" marL="0">
              <a:buNone/>
            </a:pPr>
            <a:r>
              <a:rPr/>
              <a:t>다층 캐싱 — DB 2 + in-memory 2</a:t>
            </a:r>
          </a:p>
          <a:p>
            <a:pPr lvl="0" indent="0" marL="0">
              <a:buNone/>
            </a:pPr>
            <a:r>
              <a:rPr b="1"/>
              <a:t>① DB transit_cache</a:t>
            </a:r>
            <a:r>
              <a:rPr/>
              <a:t> — (route_key, hour, mode) 모드별 행, NONE도 캐시해 재시도 방지</a:t>
            </a:r>
          </a:p>
          <a:p>
            <a:pPr lvl="0" indent="0" marL="0">
              <a:buNone/>
            </a:pPr>
            <a:r>
              <a:rPr b="1"/>
              <a:t>② DB lane_polyline</a:t>
            </a:r>
            <a:r>
              <a:rPr/>
              <a:t> — loadLane 노선 형상 영구 캐시(결과 없음도 저장)</a:t>
            </a:r>
          </a:p>
          <a:p>
            <a:pPr lvl="0" indent="0" marL="0">
              <a:buNone/>
            </a:pPr>
            <a:r>
              <a:rPr b="1"/>
              <a:t>③ in-memory 좌표 캐시</a:t>
            </a:r>
            <a:r>
              <a:rPr/>
              <a:t> — 커스텀 장소(by-coords) 경로, </a:t>
            </a:r>
            <a:r>
              <a:rPr b="1"/>
              <a:t>성공만 저장</a:t>
            </a:r>
            <a:r>
              <a:rPr/>
              <a:t>, 1000개 상한</a:t>
            </a:r>
          </a:p>
          <a:p>
            <a:pPr lvl="0" indent="0" marL="0">
              <a:buNone/>
            </a:pPr>
            <a:r>
              <a:rPr b="1"/>
              <a:t>④ in-memory localPathCache</a:t>
            </a:r>
            <a:r>
              <a:rPr/>
              <a:t> — 보강용 findLocalPath, 같은 역 중복 제거, 2000개 상한</a:t>
            </a:r>
          </a:p>
          <a:p>
            <a:pPr lvl="0" indent="0" marL="0">
              <a:buNone/>
            </a:pPr>
            <a:r>
              <a:rPr/>
              <a:t>빈 응답은 저장하지 않는다 → 영구히 빈 채로 굳지 않고 다음에 재시도</a:t>
            </a:r>
          </a:p>
          <a:p>
            <a:pPr lvl="0" indent="0" marL="0">
              <a:buNone/>
            </a:pPr>
            <a:r>
              <a:rPr/>
              <a:t>지도 폴리라인 시각화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좌표계 변환</a:t>
            </a:r>
            <a:r>
              <a:rPr/>
              <a:t> — 저장 </a:t>
            </a:r>
            <a:r>
              <a:rPr>
                <a:latin typeface="Courier"/>
              </a:rPr>
              <a:t>[lng,lat]</a:t>
            </a:r>
            <a:r>
              <a:rPr/>
              <a:t> ↔ Naver </a:t>
            </a:r>
            <a:r>
              <a:rPr>
                <a:latin typeface="Courier"/>
              </a:rPr>
              <a:t>LatLng(lat,lng)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구간별 색</a:t>
            </a:r>
            <a:r>
              <a:rPr/>
              <a:t> — 지하철 호선 공식색, 버스 종류색, KTX 검정, 도보 점선 (검정 casing 위 색선)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오버레이</a:t>
            </a:r>
            <a:r>
              <a:rPr/>
              <a:t> — 방향 화살표 ~30px 간격, 역 마커·노선 라벨(7단 오프셋 충돌 회피)</a:t>
            </a:r>
          </a:p>
          <a:p>
            <a:pPr lvl="0" indent="0" marL="0">
              <a:buNone/>
            </a:pPr>
            <a:r>
              <a:rPr/>
              <a:t>·</a:t>
            </a:r>
            <a:r>
              <a:rPr b="1"/>
              <a:t>3단 폴백</a:t>
            </a:r>
            <a:r>
              <a:rPr/>
              <a:t> — loadLane 실폴리라인 → 정류장 좌표 → 양끝 직선</a:t>
            </a:r>
          </a:p>
          <a:p>
            <a:pPr lvl="0" indent="0" marL="0">
              <a:buNone/>
            </a:pPr>
            <a:r>
              <a:rPr/>
              <a:t>대중교통 — 구간별 색 폴리라인</a:t>
            </a:r>
          </a:p>
          <a:p>
            <a:pPr lvl="0" indent="0" marL="0">
              <a:buNone/>
            </a:pPr>
            <a:r>
              <a:rPr/>
              <a:t>대중교통 경로</a:t>
            </a:r>
          </a:p>
          <a:p>
            <a:pPr lvl="0" indent="0" marL="0">
              <a:buNone/>
            </a:pPr>
            <a:r>
              <a:rPr/>
              <a:t>자동차 — T Map 경로</a:t>
            </a:r>
          </a:p>
          <a:p>
            <a:pPr lvl="0" indent="0" marL="0">
              <a:buNone/>
            </a:pPr>
            <a:r>
              <a:rPr/>
              <a:t>자동차 경로</a:t>
            </a:r>
          </a:p>
          <a:p>
            <a:pPr lvl="0" indent="0" marL="0">
              <a:buNone/>
            </a:pPr>
            <a:r>
              <a:rPr/>
              <a:t>드래그 타임라인 — 스냅 · 순서 · 방어</a:t>
            </a:r>
          </a:p>
          <a:p>
            <a:pPr lvl="0" indent="0" marL="0">
              <a:buNone/>
            </a:pPr>
            <a:r>
              <a:rPr/>
              <a:t>30분 스냅 배치</a:t>
            </a:r>
          </a:p>
          <a:p>
            <a:pPr lvl="0" indent="0" marL="0">
              <a:buNone/>
            </a:pPr>
            <a:r>
              <a:rPr/>
              <a:t>후보군 → Day 그리드 드롭으로 </a:t>
            </a:r>
            <a:r>
              <a:rPr>
                <a:latin typeface="Courier"/>
              </a:rPr>
              <a:t>trip_block</a:t>
            </a:r>
            <a:r>
              <a:rPr/>
              <a:t> 생성, 체류시간 핸들로 30분 단위 스냅, 같은 장소 중복 방문 허용</a:t>
            </a:r>
          </a:p>
          <a:p>
            <a:pPr lvl="0" indent="0" marL="0">
              <a:buNone/>
            </a:pPr>
            <a:r>
              <a:rPr/>
              <a:t>삭제존 · 순서</a:t>
            </a:r>
          </a:p>
          <a:p>
            <a:pPr lvl="0" indent="0" marL="0">
              <a:buNone/>
            </a:pPr>
            <a:r>
              <a:rPr/>
              <a:t>사이드바로 드래그하면 빨간 삭제존으로 전환, </a:t>
            </a:r>
            <a:r>
              <a:rPr>
                <a:latin typeface="Courier"/>
              </a:rPr>
              <a:t>display_order</a:t>
            </a:r>
            <a:r>
              <a:rPr/>
              <a:t>로 날짜 내 순서 관리</a:t>
            </a:r>
          </a:p>
          <a:p>
            <a:pPr lvl="0" indent="0" marL="0">
              <a:buNone/>
            </a:pPr>
            <a:r>
              <a:rPr/>
              <a:t>DB TRIGGER 방어</a:t>
            </a:r>
          </a:p>
          <a:p>
            <a:pPr lvl="0" indent="0" marL="0">
              <a:buNone/>
            </a:pPr>
            <a:r>
              <a:rPr/>
              <a:t>날짜 범위 이탈 블록은 </a:t>
            </a:r>
            <a:r>
              <a:rPr>
                <a:latin typeface="Courier"/>
              </a:rPr>
              <a:t>trg_trip_block_date_insert/update</a:t>
            </a:r>
            <a:r>
              <a:rPr/>
              <a:t> 트리거로 차단</a:t>
            </a:r>
          </a:p>
          <a:p>
            <a:pPr lvl="0" indent="0" marL="0">
              <a:buNone/>
            </a:pPr>
            <a:r>
              <a:rPr/>
              <a:t>자동 저장</a:t>
            </a:r>
          </a:p>
          <a:p>
            <a:pPr lvl="0" indent="0" marL="0">
              <a:buNone/>
            </a:pPr>
            <a:r>
              <a:rPr/>
              <a:t>배치·이동·삭제 시 자동 저장(debounce), 마우스 업 시점에 서버 반영</a:t>
            </a:r>
          </a:p>
          <a:p>
            <a:pPr lvl="0" indent="0" marL="0">
              <a:buNone/>
            </a:pPr>
            <a:r>
              <a:rPr/>
              <a:t>실시간 협업 — 두 채널 분리</a:t>
            </a:r>
          </a:p>
          <a:p>
            <a:pPr lvl="0" indent="0" marL="0">
              <a:buNone/>
            </a:pPr>
            <a:r>
              <a:rPr/>
              <a:t>CHANNEL 1 · 영속</a:t>
            </a:r>
          </a:p>
          <a:p>
            <a:pPr lvl="0" indent="0" marL="0">
              <a:buNone/>
            </a:pPr>
            <a:r>
              <a:rPr/>
              <a:t>편집 데이터</a:t>
            </a:r>
          </a:p>
          <a:p>
            <a:pPr lvl="0" indent="0" marL="0">
              <a:buNone/>
            </a:pPr>
            <a:r>
              <a:rPr/>
              <a:t>REST로 쓰고 </a:t>
            </a:r>
            <a:r>
              <a:rPr b="1"/>
              <a:t>DB 트랜잭션 + 낙관적 락</a:t>
            </a:r>
            <a:r>
              <a:rPr/>
              <a:t>으로 정합성 보장 → STOMP로 "변경됨" 신호 broadcast (</a:t>
            </a:r>
            <a:r>
              <a:rPr>
                <a:latin typeface="Courier"/>
              </a:rPr>
              <a:t>/topic/trip/{id}</a:t>
            </a:r>
            <a:r>
              <a:rPr/>
              <a:t>)</a:t>
            </a:r>
          </a:p>
          <a:p>
            <a:pPr lvl="0" indent="0" marL="0">
              <a:buNone/>
            </a:pPr>
            <a:r>
              <a:rPr/>
              <a:t>vs</a:t>
            </a:r>
          </a:p>
          <a:p>
            <a:pPr lvl="0" indent="0" marL="0">
              <a:buNone/>
            </a:pPr>
            <a:r>
              <a:rPr/>
              <a:t>CHANNEL 2 · 휘발</a:t>
            </a:r>
          </a:p>
          <a:p>
            <a:pPr lvl="0" indent="0" marL="0">
              <a:buNone/>
            </a:pPr>
            <a:r>
              <a:rPr/>
              <a:t>presence (커서·참가자)</a:t>
            </a:r>
          </a:p>
          <a:p>
            <a:pPr lvl="0" indent="0" marL="0">
              <a:buNone/>
            </a:pPr>
            <a:r>
              <a:rPr/>
              <a:t>DB를 안 거치고 서버 </a:t>
            </a:r>
            <a:r>
              <a:rPr b="1"/>
              <a:t>in-memory(ConcurrentHashMap)</a:t>
            </a:r>
            <a:r>
              <a:rPr/>
              <a:t>만 사용 → 고빈도(마우스 이동)라 가볍게 (</a:t>
            </a:r>
            <a:r>
              <a:rPr>
                <a:latin typeface="Courier"/>
              </a:rPr>
              <a:t>/topic/trip/{id}/presence</a:t>
            </a:r>
            <a:r>
              <a:rPr/>
              <a:t>)</a:t>
            </a:r>
          </a:p>
          <a:p>
            <a:pPr lvl="0" indent="0" marL="0">
              <a:buNone/>
            </a:pPr>
            <a:r>
              <a:rPr/>
              <a:t>분리 덕분에 "블록 편집은 트랜잭션·락으로 엄격하게, 커서는 빠르고 느슨하게"라는 서로 다른 요구를 각각 최적화.</a:t>
            </a:r>
          </a:p>
          <a:p>
            <a:pPr lvl="0" indent="0" marL="0">
              <a:buNone/>
            </a:pPr>
            <a:r>
              <a:rPr/>
              <a:t>WebSocket(STOMP) 실시간 적용</a:t>
            </a:r>
          </a:p>
          <a:p>
            <a:pPr lvl="0" indent="0" marL="0">
              <a:buNone/>
            </a:pPr>
            <a:r>
              <a:rPr/>
              <a:t>왜 WebSocket + STOMP</a:t>
            </a:r>
          </a:p>
          <a:p>
            <a:pPr lvl="0" indent="0" marL="0">
              <a:buNone/>
            </a:pPr>
            <a:r>
              <a:rPr/>
              <a:t>폴링(지연·낭비)·SSE(단방향)는 잦은 커서 전송에 부적합 → 양방향 WebSocket. STOMP로 </a:t>
            </a:r>
            <a:r>
              <a:rPr>
                <a:latin typeface="Courier"/>
              </a:rPr>
              <a:t>/topic</a:t>
            </a:r>
            <a:r>
              <a:rPr/>
              <a:t> pub/sub·</a:t>
            </a:r>
            <a:r>
              <a:rPr>
                <a:latin typeface="Courier"/>
              </a:rPr>
              <a:t>/app</a:t>
            </a:r>
            <a:r>
              <a:rPr/>
              <a:t> 매핑, SockJS 폴백</a:t>
            </a:r>
          </a:p>
          <a:p>
            <a:pPr lvl="0" indent="0" marL="0">
              <a:buNone/>
            </a:pPr>
            <a:r>
              <a:rPr/>
              <a:t>쿠키 인증 · 권한 캐시</a:t>
            </a:r>
          </a:p>
          <a:p>
            <a:pPr lvl="0" indent="0" marL="0">
              <a:buNone/>
            </a:pPr>
            <a:r>
              <a:rPr/>
              <a:t>핸드셰이크에서 쿠키 검증, CONNECT/SUBSCRIBE/SEND 단계별 권한. 잦은 SEND는 세션 캐시 + </a:t>
            </a:r>
            <a:r>
              <a:rPr>
                <a:latin typeface="Courier"/>
              </a:rPr>
              <a:t>TripAccessVersion</a:t>
            </a:r>
            <a:r>
              <a:rPr/>
              <a:t> 세대 카운터로 무효화</a:t>
            </a:r>
          </a:p>
          <a:p>
            <a:pPr lvl="0" indent="0" marL="0">
              <a:buNone/>
            </a:pPr>
            <a:r>
              <a:rPr/>
              <a:t>순서 · 중복 방어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TripEvent.seq</a:t>
            </a:r>
            <a:r>
              <a:rPr/>
              <a:t>(AtomicLong) 스탬프 → 수신측은 이전 seq 이하면 무시. </a:t>
            </a:r>
            <a:r>
              <a:rPr>
                <a:latin typeface="Courier"/>
              </a:rPr>
              <a:t>actorId</a:t>
            </a:r>
            <a:r>
              <a:rPr/>
              <a:t>로 자기 이벤트 무시</a:t>
            </a:r>
          </a:p>
          <a:p>
            <a:pPr lvl="0" indent="0" marL="0">
              <a:buNone/>
            </a:pPr>
            <a:r>
              <a:rPr/>
              <a:t>트랜잭션 위생</a:t>
            </a:r>
          </a:p>
          <a:p>
            <a:pPr lvl="0" indent="0" marL="0">
              <a:buNone/>
            </a:pPr>
            <a:r>
              <a:rPr/>
              <a:t>이동시간 재계산(외부 API)은 편집 트랜잭션 </a:t>
            </a:r>
            <a:r>
              <a:rPr>
                <a:latin typeface="Courier"/>
              </a:rPr>
              <a:t>afterCommit</a:t>
            </a:r>
            <a:r>
              <a:rPr/>
              <a:t>으로 미뤄 DB 커넥션 점유 방지. 재연결 시 전체 재조회로 수렴</a:t>
            </a:r>
          </a:p>
          <a:p>
            <a:pPr lvl="0" indent="0" marL="0">
              <a:buNone/>
            </a:pPr>
            <a:r>
              <a:rPr/>
              <a:t>낙관적 락 — 충돌 기준 매트릭스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UPDATE … version=version+1 WHERE id=? AND version=?</a:t>
            </a:r>
            <a:r>
              <a:rPr/>
              <a:t> → 0행이면 </a:t>
            </a:r>
            <a:r>
              <a:rPr b="1"/>
              <a:t>409 CONFLICT</a:t>
            </a:r>
            <a:r>
              <a:rPr/>
              <a:t> → 토스트 + 재조회. 핵심 불변식: </a:t>
            </a:r>
            <a:r>
              <a:rPr b="1"/>
              <a:t>version은 같은 row에만 작용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선택지 비교: 비관적 락(항상 점유, 과함) · </a:t>
            </a:r>
            <a:r>
              <a:rPr b="1"/>
              <a:t>낙관적 락(평소 오버헤드 0, 경합 때만 거부 — 채택)</a:t>
            </a:r>
            <a:r>
              <a:rPr/>
              <a:t> · CRDT/OT(아키텍처 전면 전환, ROI 낮음 + 의미 충돌은 못 없앰).</a:t>
            </a:r>
          </a:p>
          <a:p>
            <a:pPr lvl="0" indent="0" marL="0">
              <a:buNone/>
            </a:pPr>
            <a:r>
              <a:rPr/>
              <a:t>실시간 커서 — 상대 좌표 동기화</a:t>
            </a:r>
          </a:p>
          <a:p>
            <a:pPr lvl="0" indent="0" marL="0">
              <a:buNone/>
            </a:pPr>
            <a:r>
              <a:rPr/>
              <a:t>절대 픽셀(clientX/Y)을 그대로 공유하면 "5시 성심당 블록"이 상대 화면에선 엉뚱한 곳에 찍힌다. 커서를 </a:t>
            </a:r>
            <a:r>
              <a:rPr b="1"/>
              <a:t>"어느 영역(zone) + 그 zone의 의미 좌표"</a:t>
            </a:r>
            <a:r>
              <a:rPr/>
              <a:t>로 송수신해, 창·스크롤·폭이 달라도 모두가 같은 의미 지점을 가리키게 했다. (픽셀 일치는 비목표 — </a:t>
            </a:r>
            <a:r>
              <a:rPr b="1"/>
              <a:t>의미 단위 정확</a:t>
            </a:r>
            <a:r>
              <a:rPr/>
              <a:t>이 목표)</a:t>
            </a:r>
          </a:p>
          <a:p>
            <a:pPr lvl="0" indent="0" marL="0">
              <a:buNone/>
            </a:pPr>
            <a:r>
              <a:rPr/>
              <a:t>좌표 모델</a:t>
            </a:r>
          </a:p>
          <a:p>
            <a:pPr lvl="0" indent="0" marL="0">
              <a:buNone/>
            </a:pPr>
            <a:r>
              <a:rPr/>
              <a:t>zone(timetable/map/other) + dayIndex·colRatioX·contentY. 기준 DOM의 </a:t>
            </a:r>
            <a:r>
              <a:rPr>
                <a:latin typeface="Courier"/>
              </a:rPr>
              <a:t>getBoundingClientRect()</a:t>
            </a:r>
            <a:r>
              <a:rPr/>
              <a:t>가 스크롤을 이미 반영</a:t>
            </a:r>
          </a:p>
          <a:p>
            <a:pPr lvl="0" indent="0" marL="0">
              <a:buNone/>
            </a:pPr>
            <a:r>
              <a:rPr/>
              <a:t>가시 범위 클램프</a:t>
            </a:r>
          </a:p>
          <a:p>
            <a:pPr lvl="0" indent="0" marL="0">
              <a:buNone/>
            </a:pPr>
            <a:r>
              <a:rPr/>
              <a:t>송신자 위치 기준(격자 밖 숨김) + 수신자 스크롤 기준(뷰포트 밖 숨김)으로 헤더 침범 방지</a:t>
            </a:r>
          </a:p>
          <a:p>
            <a:pPr lvl="0" indent="0" marL="0">
              <a:buNone/>
            </a:pPr>
            <a:r>
              <a:rPr/>
              <a:t>적응형 throttle</a:t>
            </a:r>
          </a:p>
          <a:p>
            <a:pPr lvl="0" indent="0" marL="0">
              <a:buNone/>
            </a:pPr>
            <a:r>
              <a:rPr/>
              <a:t>AIMD 송신 throttle + (transition ≤ 수신 간격) 보간으로 드래그 후 백로그를 구조적으로 제거</a:t>
            </a:r>
          </a:p>
          <a:p>
            <a:pPr lvl="0" indent="0" marL="0">
              <a:buNone/>
            </a:pPr>
            <a:r>
              <a:rPr/>
              <a:t>AI 주변 추천 · 데이터 보존 정책</a:t>
            </a:r>
          </a:p>
          <a:p>
            <a:pPr lvl="0" indent="0" marL="0">
              <a:buNone/>
            </a:pPr>
            <a:r>
              <a:rPr/>
              <a:t>AI 주변 추천</a:t>
            </a:r>
          </a:p>
          <a:p>
            <a:pPr lvl="0" indent="0" marL="0">
              <a:buNone/>
            </a:pPr>
            <a:r>
              <a:rPr/>
              <a:t>관광지 좌표 기준 반경 ~3km·최대 8곳을 </a:t>
            </a:r>
            <a:r>
              <a:rPr>
                <a:latin typeface="Courier"/>
              </a:rPr>
              <a:t>ST_Distance_Sphere</a:t>
            </a:r>
            <a:r>
              <a:rPr/>
              <a:t>로 거리순 조회 → 시스템 프롬프트 컨텍스트 주입 → gms gpt-4.1 멀티턴 응답에서 </a:t>
            </a:r>
            <a:r>
              <a:rPr b="1"/>
              <a:t>실제 언급된 장소만 버튼화</a:t>
            </a:r>
            <a:r>
              <a:rPr/>
              <a:t> → 지도 핀·상세 이동, 뒤로가기 시 대화·스크롤 복원</a:t>
            </a:r>
          </a:p>
          <a:p>
            <a:pPr lvl="0" indent="0" marL="0">
              <a:buNone/>
            </a:pPr>
            <a:r>
              <a:rPr/>
              <a:t>데이터 보존 (삭제 전략)</a:t>
            </a:r>
          </a:p>
          <a:p>
            <a:pPr lvl="0" indent="0" marL="0">
              <a:buNone/>
            </a:pPr>
            <a:r>
              <a:rPr b="1"/>
              <a:t>SET NULL</a:t>
            </a:r>
            <a:r>
              <a:rPr/>
              <a:t> — 작성자/일정 삭제 시 게시글·공지 보존("탈퇴한 사용자")</a:t>
            </a:r>
            <a:br/>
            <a:r>
              <a:rPr b="1"/>
              <a:t>RESTRICT</a:t>
            </a:r>
            <a:r>
              <a:rPr/>
              <a:t> — 후보군→블록, 모달 확인 UX 보장</a:t>
            </a:r>
            <a:br/>
            <a:r>
              <a:rPr b="1"/>
              <a:t>소프트 딜리트</a:t>
            </a:r>
            <a:r>
              <a:rPr/>
              <a:t> — 글 </a:t>
            </a:r>
            <a:r>
              <a:rPr>
                <a:latin typeface="Courier"/>
              </a:rPr>
              <a:t>deleted_at</a:t>
            </a:r>
            <a:r>
              <a:rPr/>
              <a:t> + 북마크 보존</a:t>
            </a:r>
          </a:p>
          <a:p>
            <a:pPr lvl="0" indent="0" marL="0">
              <a:buNone/>
            </a:pPr>
            <a:r>
              <a:rPr/>
              <a:t>08</a:t>
            </a:r>
          </a:p>
          <a:p>
            <a:pPr lvl="0" indent="0" marL="0">
              <a:buNone/>
            </a:pPr>
            <a:r>
              <a:rPr/>
              <a:t>기대 효과 · 개발 후기</a:t>
            </a:r>
          </a:p>
          <a:p>
            <a:pPr lvl="0" indent="0" marL="0">
              <a:buNone/>
            </a:pPr>
            <a:r>
              <a:rPr/>
              <a:t>서비스가 만들어 내는 가치, 그리고 팀이 6주간 얻은 배움.</a:t>
            </a:r>
          </a:p>
          <a:p>
            <a:pPr lvl="0" indent="0" marL="0">
              <a:buNone/>
            </a:pPr>
            <a:r>
              <a:rPr/>
              <a:t>기대 효과</a:t>
            </a:r>
          </a:p>
          <a:p>
            <a:pPr lvl="0" indent="0" marL="0">
              <a:buNone/>
            </a:pPr>
            <a:r>
              <a:rPr/>
              <a:t>⏱️</a:t>
            </a:r>
          </a:p>
          <a:p>
            <a:pPr lvl="0" indent="0" marL="0">
              <a:buNone/>
            </a:pPr>
            <a:r>
              <a:rPr/>
              <a:t>여행 준비 시간 단축 — 탐색·동선·이동시간을 한 화면에서, 앱 전환 비용 제거</a:t>
            </a:r>
          </a:p>
          <a:p>
            <a:pPr lvl="0" indent="0" marL="0">
              <a:buNone/>
            </a:pPr>
            <a:r>
              <a:rPr/>
              <a:t>🧭</a:t>
            </a:r>
          </a:p>
          <a:p>
            <a:pPr lvl="0" indent="0" marL="0">
              <a:buNone/>
            </a:pPr>
            <a:r>
              <a:rPr/>
              <a:t>현실적인 일정 — 구간별 실제 이동시간·수단으로 무리 없는 동선</a:t>
            </a:r>
          </a:p>
          <a:p>
            <a:pPr lvl="0" indent="0" marL="0">
              <a:buNone/>
            </a:pPr>
            <a:r>
              <a:rPr/>
              <a:t>🤝</a:t>
            </a:r>
          </a:p>
          <a:p>
            <a:pPr lvl="0" indent="0" marL="0">
              <a:buNone/>
            </a:pPr>
            <a:r>
              <a:rPr/>
              <a:t>함께 만드는 여행 — 실시간 협업·공유로 일행과 합의된 일정</a:t>
            </a:r>
          </a:p>
          <a:p>
            <a:pPr lvl="0" indent="0" marL="0">
              <a:buNone/>
            </a:pPr>
            <a:r>
              <a:rPr/>
              <a:t>📌</a:t>
            </a:r>
          </a:p>
          <a:p>
            <a:pPr lvl="0" indent="0" marL="0">
              <a:buNone/>
            </a:pPr>
            <a:r>
              <a:rPr/>
              <a:t>경험의 축적 — 여행 이야기·방문 지도로 기록을 자산화</a:t>
            </a:r>
          </a:p>
          <a:p>
            <a:pPr lvl="0" indent="0" marL="0">
              <a:buNone/>
            </a:pPr>
            <a:r>
              <a:rPr/>
              <a:t>📈</a:t>
            </a:r>
          </a:p>
          <a:p>
            <a:pPr lvl="0" indent="0" marL="0">
              <a:buNone/>
            </a:pPr>
            <a:r>
              <a:rPr/>
              <a:t>확장성 — 도메인 중심 설계 + 캐시 전략으로 트래픽·기능 확장 용이</a:t>
            </a:r>
          </a:p>
          <a:p>
            <a:pPr lvl="0" indent="0" marL="0">
              <a:buNone/>
            </a:pPr>
            <a:r>
              <a:rPr/>
              <a:t>개발 후기</a:t>
            </a:r>
          </a:p>
          <a:p>
            <a:pPr lvl="0" indent="0" marL="0">
              <a:buNone/>
            </a:pPr>
            <a:r>
              <a:rPr/>
              <a:t>📷</a:t>
            </a:r>
          </a:p>
          <a:p>
            <a:pPr lvl="0" indent="0" marL="0">
              <a:buNone/>
            </a:pPr>
            <a:r>
              <a:rPr/>
              <a:t>팀 사진</a:t>
            </a:r>
          </a:p>
          <a:p>
            <a:pPr lvl="0" indent="0" marL="0">
              <a:buNone/>
            </a:pPr>
            <a:r>
              <a:rPr/>
              <a:t>team photo placeholder</a:t>
            </a:r>
          </a:p>
          <a:p>
            <a:pPr lvl="0" indent="0" marL="0">
              <a:buNone/>
            </a:pPr>
            <a:r>
              <a:rPr/>
              <a:t>전진 — 개인 회고</a:t>
            </a:r>
          </a:p>
          <a:p>
            <a:pPr lvl="0" indent="0" marL="0">
              <a:buNone/>
            </a:pPr>
            <a:r>
              <a:rPr/>
              <a:t>배운 점 · 어려웠던 점 · 다음에 시도할 것 (작성 placeholder)</a:t>
            </a:r>
          </a:p>
          <a:p>
            <a:pPr lvl="0" indent="0" marL="0">
              <a:buNone/>
            </a:pPr>
            <a:r>
              <a:rPr/>
              <a:t>송정기 — 개인 회고</a:t>
            </a:r>
          </a:p>
          <a:p>
            <a:pPr lvl="0" indent="0" marL="0">
              <a:buNone/>
            </a:pPr>
            <a:r>
              <a:rPr/>
              <a:t>배운 점 · 어려웠던 점 · 다음에 시도할 것 (작성 placeholder)</a:t>
            </a:r>
          </a:p>
          <a:p>
            <a:pPr lvl="0" indent="0" marL="0">
              <a:buNone/>
            </a:pPr>
            <a:r>
              <a:rPr b="1"/>
              <a:t>기술적 배움</a:t>
            </a:r>
            <a:r>
              <a:rPr/>
              <a:t> — 외부 API 쿼터 한계를 캐시 설계로 극복 · 실시간 동시 편집의 충돌 처리(낙관적 락) · 도메인 중심 패키지·삭제 전략 설계의 중요성</a:t>
            </a:r>
          </a:p>
          <a:p>
            <a:pPr lvl="0" indent="0" marL="0">
              <a:buNone/>
            </a:pPr>
            <a:r>
              <a:rPr/>
              <a:t>APPENDIX</a:t>
            </a:r>
          </a:p>
          <a:p>
            <a:pPr lvl="0" indent="0" marL="0">
              <a:buNone/>
            </a:pPr>
            <a:r>
              <a:rPr/>
              <a:t>부록</a:t>
            </a:r>
          </a:p>
          <a:p>
            <a:pPr lvl="0" indent="0" marL="0">
              <a:buNone/>
            </a:pPr>
            <a:r>
              <a:rPr/>
              <a:t>A. AI 사용 보고서  ·  B. ER 다이어그램  ·  C. 클래스 다이어그램  ·  D. 유스케이스  ·  E. API 명세</a:t>
            </a:r>
          </a:p>
          <a:p>
            <a:pPr lvl="0" indent="0" marL="0">
              <a:buNone/>
            </a:pPr>
            <a:r>
              <a:rPr/>
              <a:t>부록 A. AI 사용 보고서</a:t>
            </a:r>
          </a:p>
          <a:p>
            <a:pPr lvl="0" indent="0" marL="0">
              <a:buNone/>
            </a:pPr>
            <a:r>
              <a:rPr/>
              <a:t>기능별 활용</a:t>
            </a:r>
          </a:p>
          <a:p>
            <a:pPr lvl="0" indent="0" marL="0">
              <a:buNone/>
            </a:pPr>
            <a:r>
              <a:rPr/>
              <a:t>원칙</a:t>
            </a:r>
          </a:p>
          <a:p>
            <a:pPr lvl="0" indent="0" marL="0">
              <a:buNone/>
            </a:pPr>
            <a:r>
              <a:rPr/>
              <a:t>AI 산출물은 반드시 사람이 리뷰·검증 후 반영(빌드·테스트 통과) · 보안/권한은 서버 검증 직접 점검 · 키는 환경변수 분리 · 설계 결정은 팀 합의 후 구현 위임</a:t>
            </a:r>
          </a:p>
          <a:p>
            <a:pPr lvl="0" indent="0" marL="0">
              <a:buNone/>
            </a:pPr>
            <a:r>
              <a:rPr/>
              <a:t>효과</a:t>
            </a:r>
          </a:p>
          <a:p>
            <a:pPr lvl="0" indent="0" marL="0">
              <a:buNone/>
            </a:pPr>
            <a:r>
              <a:rPr/>
              <a:t>반복 작업 가속 · 설계 트레이드오프 비교·문서화 · 대규모 코드베이스 탐색 효율 · 코드 기준 문서 정합성</a:t>
            </a:r>
          </a:p>
          <a:p>
            <a:pPr lvl="0" indent="0" marL="0">
              <a:buNone/>
            </a:pPr>
            <a:r>
              <a:rPr/>
              <a:t>한계 &amp; 대응</a:t>
            </a:r>
          </a:p>
          <a:p>
            <a:pPr lvl="0" indent="0" marL="0">
              <a:buNone/>
            </a:pPr>
            <a:r>
              <a:rPr/>
              <a:t>외부 API 스키마 불확실 → 실호출 검증 · 그럴듯하나 틀린 코드 → 빌드·테스트·코드리뷰 게이트 필수 · 보안 민감 로직 직접 검증</a:t>
            </a:r>
          </a:p>
          <a:p>
            <a:pPr lvl="0" indent="0" marL="0">
              <a:buNone/>
            </a:pPr>
            <a:r>
              <a:rPr/>
              <a:t>부록 B. ER 다이어그램 — MySQL 8.0 · FK 삭제 정책 표기</a:t>
            </a:r>
          </a:p>
          <a:p>
            <a:pPr lvl="0" indent="0" marL="0">
              <a:buNone/>
            </a:pPr>
            <a:r>
              <a:rPr/>
              <a:t>FK 삭제 정책</a:t>
            </a:r>
          </a:p>
          <a:p>
            <a:pPr lvl="0" indent="0" marL="0">
              <a:buNone/>
            </a:pPr>
            <a:r>
              <a:rPr b="1"/>
              <a:t>CASCADE</a:t>
            </a:r>
            <a:r>
              <a:rPr/>
              <a:t> — 회원 종속 데이터(token·favorite·trip·place·collaborator)</a:t>
            </a:r>
          </a:p>
          <a:p>
            <a:pPr lvl="0" indent="0" marL="0">
              <a:buNone/>
            </a:pPr>
            <a:r>
              <a:rPr b="1"/>
              <a:t>SET NULL</a:t>
            </a:r>
            <a:r>
              <a:rPr/>
              <a:t> — post·notice(작성자), post(trip) → 보존</a:t>
            </a:r>
          </a:p>
          <a:p>
            <a:pPr lvl="0" indent="0" marL="0">
              <a:buNone/>
            </a:pPr>
            <a:r>
              <a:rPr b="1"/>
              <a:t>RESTRICT</a:t>
            </a:r>
            <a:r>
              <a:rPr/>
              <a:t> — trip_block→candidate(모달 확인)</a:t>
            </a:r>
          </a:p>
          <a:p>
            <a:pPr lvl="0" indent="0" marL="0">
              <a:buNone/>
            </a:pPr>
            <a:r>
              <a:rPr b="1"/>
              <a:t>no-cascade</a:t>
            </a:r>
            <a:r>
              <a:rPr/>
              <a:t> — bookmark(글 소프트딜리트돼도 보존)</a:t>
            </a:r>
          </a:p>
          <a:p>
            <a:pPr lvl="0" indent="0" marL="0">
              <a:buNone/>
            </a:pPr>
            <a:r>
              <a:rPr/>
              <a:t>비정규화: transit_duration·like_count 캐시 컬럼, transit_cache·lane_polyline 응답 캐시</a:t>
            </a:r>
          </a:p>
          <a:p>
            <a:pPr lvl="0" indent="0" marL="0">
              <a:buNone/>
            </a:pPr>
            <a:r>
              <a:rPr/>
              <a:t>부록 C. 클래스 다이어그램 — 계층형 아키텍처</a:t>
            </a:r>
          </a:p>
          <a:p>
            <a:pPr lvl="0" indent="0" marL="0">
              <a:buNone/>
            </a:pPr>
            <a:r>
              <a:rPr/>
              <a:t>도메인 중심 패키지</a:t>
            </a:r>
          </a:p>
          <a:p>
            <a:pPr lvl="0" indent="0" marL="0">
              <a:buNone/>
            </a:pPr>
            <a:r>
              <a:rPr b="1"/>
              <a:t>member</a:t>
            </a:r>
            <a:r>
              <a:rPr/>
              <a:t> · </a:t>
            </a:r>
            <a:r>
              <a:rPr b="1"/>
              <a:t>attraction</a:t>
            </a:r>
            <a:r>
              <a:rPr/>
              <a:t> · </a:t>
            </a:r>
            <a:r>
              <a:rPr b="1"/>
              <a:t>chat</a:t>
            </a:r>
            <a:r>
              <a:rPr/>
              <a:t> · </a:t>
            </a:r>
            <a:r>
              <a:rPr b="1"/>
              <a:t>plan</a:t>
            </a:r>
            <a:r>
              <a:rPr/>
              <a:t> · </a:t>
            </a:r>
            <a:r>
              <a:rPr b="1"/>
              <a:t>community</a:t>
            </a:r>
            <a:r>
              <a:rPr/>
              <a:t> · </a:t>
            </a:r>
            <a:r>
              <a:rPr b="1"/>
              <a:t>place</a:t>
            </a:r>
            <a:r>
              <a:rPr/>
              <a:t> · </a:t>
            </a:r>
            <a:r>
              <a:rPr b="1"/>
              <a:t>global</a:t>
            </a:r>
          </a:p>
          <a:p>
            <a:pPr lvl="0" indent="0" marL="0">
              <a:buNone/>
            </a:pPr>
            <a:r>
              <a:rPr b="1"/>
              <a:t>계층</a:t>
            </a:r>
            <a:r>
              <a:rPr/>
              <a:t> Controller → Service(Impl) → Mapper(MyBatis) → DB, 외부 연동은 Client(TourApi·Odsay·TMap·KakaoLocal)로 분리</a:t>
            </a:r>
          </a:p>
          <a:p>
            <a:pPr lvl="0" indent="0" marL="0">
              <a:buNone/>
            </a:pPr>
            <a:r>
              <a:rPr b="1"/>
              <a:t>global</a:t>
            </a:r>
            <a:r>
              <a:rPr/>
              <a:t> SecurityConfig·WebSocketConfig·JwtTokenProvider·GlobalExceptionHandler·ApiResponse</a:t>
            </a:r>
          </a:p>
          <a:p>
            <a:pPr lvl="0" indent="0" marL="0">
              <a:buNone/>
            </a:pPr>
            <a:r>
              <a:rPr/>
              <a:t>부록 D. 유스케이스 — 회원 핵심 흐름</a:t>
            </a:r>
          </a:p>
          <a:p>
            <a:pPr lvl="0" indent="0" marL="0">
              <a:buNone/>
            </a:pPr>
            <a:r>
              <a:rPr/>
              <a:t>액터 정의</a:t>
            </a:r>
          </a:p>
          <a:p>
            <a:pPr lvl="0" indent="0" marL="0">
              <a:buNone/>
            </a:pPr>
            <a:r>
              <a:rPr b="1"/>
              <a:t>비회원</a:t>
            </a:r>
            <a:r>
              <a:rPr/>
              <a:t> — 관광지 조회, 커뮤니티/공지 열람, 공유 링크(VIEW) 조회</a:t>
            </a:r>
          </a:p>
          <a:p>
            <a:pPr lvl="0" indent="0" marL="0">
              <a:buNone/>
            </a:pPr>
            <a:r>
              <a:rPr b="1"/>
              <a:t>회원</a:t>
            </a:r>
            <a:r>
              <a:rPr/>
              <a:t> — 일정 CRUD·드래그 편집, 즐겨찾기, 게시글/댓글/좋아요/북마크, AI 챗봇, 협업</a:t>
            </a:r>
          </a:p>
          <a:p>
            <a:pPr lvl="0" indent="0" marL="0">
              <a:buNone/>
            </a:pPr>
            <a:r>
              <a:rPr b="1"/>
              <a:t>관리자</a:t>
            </a:r>
            <a:r>
              <a:rPr/>
              <a:t> — 공지 CRUD, 게시글 관리, TourAPI 동기화</a:t>
            </a:r>
          </a:p>
          <a:p>
            <a:pPr lvl="0" indent="0" marL="0">
              <a:buNone/>
            </a:pPr>
            <a:r>
              <a:rPr b="1"/>
              <a:t>외부 API</a:t>
            </a:r>
            <a:r>
              <a:rPr/>
              <a:t> — TourAPI 수집, ODsay/T Map 경로, Kakao, gms(AI)</a:t>
            </a:r>
          </a:p>
          <a:p>
            <a:pPr lvl="0" indent="0" marL="0">
              <a:buNone/>
            </a:pPr>
            <a:r>
              <a:rPr/>
              <a:t>부록 E. API 명세 — REST 약 72개 + WebSocket(STOMP)</a:t>
            </a:r>
          </a:p>
          <a:p>
            <a:pPr lvl="0" indent="0" marL="0">
              <a:buNone/>
            </a:pPr>
            <a:r>
              <a:rPr/>
              <a:t>인증 · 회원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/api/auth</a:t>
            </a:r>
            <a:r>
              <a:rPr/>
              <a:t> signup·login·kakao·refresh·me · </a:t>
            </a:r>
            <a:r>
              <a:rPr>
                <a:latin typeface="Courier"/>
              </a:rPr>
              <a:t>/api/members</a:t>
            </a:r>
            <a:r>
              <a:rPr/>
              <a:t> 닉네임·비번·프로필·탈퇴</a:t>
            </a:r>
          </a:p>
          <a:p>
            <a:pPr lvl="0" indent="0" marL="0">
              <a:buNone/>
            </a:pPr>
            <a:r>
              <a:rPr/>
              <a:t>관광지 · AI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/api/attractions</a:t>
            </a:r>
            <a:r>
              <a:rPr/>
              <a:t> regions·검색·상세 · </a:t>
            </a:r>
            <a:r>
              <a:rPr>
                <a:latin typeface="Courier"/>
              </a:rPr>
              <a:t>{id}/chat</a:t>
            </a:r>
            <a:r>
              <a:rPr/>
              <a:t> Spring AI 멀티턴</a:t>
            </a:r>
          </a:p>
          <a:p>
            <a:pPr lvl="0" indent="0" marL="0">
              <a:buNone/>
            </a:pPr>
            <a:r>
              <a:rPr/>
              <a:t>장소 · 내 장소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/api/places/search</a:t>
            </a:r>
            <a:r>
              <a:rPr/>
              <a:t> Kakao Local · </a:t>
            </a:r>
            <a:r>
              <a:rPr>
                <a:latin typeface="Courier"/>
              </a:rPr>
              <a:t>/api/my-places</a:t>
            </a:r>
            <a:r>
              <a:rPr/>
              <a:t> CRUD</a:t>
            </a:r>
          </a:p>
          <a:p>
            <a:pPr lvl="0" indent="0" marL="0">
              <a:buNone/>
            </a:pPr>
            <a:r>
              <a:rPr/>
              <a:t>여행 일정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/api/trips</a:t>
            </a:r>
            <a:r>
              <a:rPr/>
              <a:t> CRUD·share·copy·협업자·후보군·블록(낙관적 락)</a:t>
            </a:r>
          </a:p>
          <a:p>
            <a:pPr lvl="0" indent="0" marL="0">
              <a:buNone/>
            </a:pPr>
            <a:r>
              <a:rPr/>
              <a:t>이동 시간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/api/transit</a:t>
            </a:r>
            <a:r>
              <a:rPr/>
              <a:t> by-coords·detail·driving-options·select·route-segments·walking-coords (~11)</a:t>
            </a:r>
          </a:p>
          <a:p>
            <a:pPr lvl="0" indent="0" marL="0">
              <a:buNone/>
            </a:pPr>
            <a:r>
              <a:rPr/>
              <a:t>커뮤니티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/api/posts</a:t>
            </a:r>
            <a:r>
              <a:rPr/>
              <a:t> 목록·작성·상세·수정·삭제·좋아요 · 댓글·대댓글</a:t>
            </a:r>
          </a:p>
          <a:p>
            <a:pPr lvl="0" indent="0" marL="0">
              <a:buNone/>
            </a:pPr>
            <a:r>
              <a:rPr/>
              <a:t>좋아요·북마크·공지·이미지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/api/likes/me</a:t>
            </a:r>
            <a:r>
              <a:rPr/>
              <a:t> · </a:t>
            </a:r>
            <a:r>
              <a:rPr>
                <a:latin typeface="Courier"/>
              </a:rPr>
              <a:t>/bookmark</a:t>
            </a:r>
            <a:r>
              <a:rPr/>
              <a:t> · </a:t>
            </a:r>
            <a:r>
              <a:rPr>
                <a:latin typeface="Courier"/>
              </a:rPr>
              <a:t>/api/notices</a:t>
            </a:r>
            <a:r>
              <a:rPr/>
              <a:t> · </a:t>
            </a:r>
            <a:r>
              <a:rPr>
                <a:latin typeface="Courier"/>
              </a:rPr>
              <a:t>/api/images/upload</a:t>
            </a:r>
          </a:p>
          <a:p>
            <a:pPr lvl="0" indent="0" marL="0">
              <a:buNone/>
            </a:pPr>
            <a:r>
              <a:rPr/>
              <a:t>관리자 · WebSocket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/api/admin/attractions/sync</a:t>
            </a:r>
            <a:r>
              <a:rPr/>
              <a:t> ADMIN · </a:t>
            </a:r>
            <a:r>
              <a:rPr>
                <a:latin typeface="Courier"/>
              </a:rPr>
              <a:t>/ws</a:t>
            </a:r>
            <a:r>
              <a:rPr/>
              <a:t> SockJS, </a:t>
            </a:r>
            <a:r>
              <a:rPr>
                <a:latin typeface="Courier"/>
              </a:rPr>
              <a:t>/topic/trip/{id}</a:t>
            </a:r>
            <a:r>
              <a:rPr/>
              <a:t>·</a:t>
            </a:r>
            <a:r>
              <a:rPr>
                <a:latin typeface="Courier"/>
              </a:rPr>
              <a:t>/presence</a:t>
            </a:r>
          </a:p>
          <a:p>
            <a:pPr lvl="0" indent="0" marL="0">
              <a:buNone/>
            </a:pPr>
            <a:r>
              <a:rPr/>
              <a:t>공통: 응답 </a:t>
            </a:r>
            <a:r>
              <a:rPr>
                <a:latin typeface="Courier"/>
              </a:rPr>
              <a:t>ApiResponse&lt;T&gt;{success,data,message,errorCode}</a:t>
            </a:r>
            <a:r>
              <a:rPr/>
              <a:t> · 인증 쿠키 기반 JWT · 에러 401/403/400/409/500 일관 처리</a:t>
            </a:r>
          </a:p>
          <a:p>
            <a:pPr lvl="0" indent="0" marL="0">
              <a:buNone/>
            </a:pPr>
            <a:r>
              <a:rPr/>
              <a:t>T</a:t>
            </a:r>
          </a:p>
          <a:p>
            <a:pPr lvl="0" indent="0" marL="0">
              <a:buNone/>
            </a:pPr>
            <a:r>
              <a:rPr/>
              <a:t>TripCraft</a:t>
            </a:r>
          </a:p>
          <a:p>
            <a:pPr lvl="0" indent="0" marL="0">
              <a:buNone/>
            </a:pPr>
            <a:r>
              <a:rPr/>
              <a:t>감사합니다</a:t>
            </a:r>
          </a:p>
          <a:p>
            <a:pPr lvl="0" indent="0" marL="0">
              <a:buNone/>
            </a:pPr>
            <a:r>
              <a:rPr/>
              <a:t>여행을 설계하는 가장 스마트한 방법</a:t>
            </a:r>
          </a:p>
          <a:p>
            <a:pPr lvl="0" indent="0" marL="0">
              <a:buNone/>
            </a:pPr>
            <a:r>
              <a:rPr/>
              <a:t>전진 · 송정기  |  2026.06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2026-06-25T11:46:52Z</dcterms:created>
  <dcterms:modified xsi:type="dcterms:W3CDTF">2026-06-25T11:46:52Z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iewport">
    <vt:lpwstr>width=device-width, initial-scale=1</vt:lpwstr>
  </property>
</Properties>
</file>